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Șablon" id="{A400C06E-735C-BC23-DC41-0A137D6A8A0E}">
          <p14:sldIdLst>
            <p14:sldId id="256"/>
            <p14:sldId id="259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2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20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2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E9E3D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3"/>
                </a:solidFill>
              </a:rPr>
              <a:t>Săptămâna 1 · GeoSense Lab, ETTI–UNSTPB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1B2A4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50" dirty="0">
                <a:solidFill>
                  <a:srgbClr val="3A4451"/>
                </a:solidFill>
              </a:defRPr>
            </a:lvl1pPr>
          </a:lstStyle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MEDE · CP0 · </a:t>
            </a:r>
            <a:r>
              <a:rPr lang="ro-RO" sz="900" kern="0" spc="200" dirty="0">
                <a:solidFill>
                  <a:srgbClr val="C8702A"/>
                </a:solidFill>
              </a:rPr>
              <a:t>FENOMEN ȘI SURSE </a:t>
            </a:r>
            <a:r>
              <a:rPr lang="en-US" sz="900" kern="0" spc="200" dirty="0">
                <a:solidFill>
                  <a:srgbClr val="C8702A"/>
                </a:solidFill>
              </a:rPr>
              <a:t>· SĂPTĂMÂNA</a:t>
            </a:r>
            <a:r>
              <a:rPr lang="ro-RO" sz="900" kern="0" spc="200" dirty="0">
                <a:solidFill>
                  <a:srgbClr val="C8702A"/>
                </a:solidFill>
              </a:rPr>
              <a:t>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o-RO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Dinu Andreea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U</a:t>
            </a:r>
            <a:r>
              <a:rPr lang="ro-RO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</a:t>
            </a:r>
            <a:r>
              <a:rPr lang="en-US" sz="2400" dirty="0"/>
              <a:t>Insula de </a:t>
            </a:r>
            <a:r>
              <a:rPr lang="en-US" sz="2400" dirty="0" err="1"/>
              <a:t>căldură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forma </a:t>
            </a:r>
            <a:r>
              <a:rPr lang="en-US" sz="2400" dirty="0" err="1"/>
              <a:t>urbană</a:t>
            </a:r>
            <a:r>
              <a:rPr lang="en-US" sz="2400" dirty="0"/>
              <a:t> 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852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Întrebarea mea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/>
              <a:t>Q13.1 </a:t>
            </a:r>
            <a:r>
              <a:rPr lang="en-US" sz="1050" dirty="0" err="1"/>
              <a:t>Unde</a:t>
            </a:r>
            <a:r>
              <a:rPr lang="en-US" sz="1050" dirty="0"/>
              <a:t> </a:t>
            </a:r>
            <a:r>
              <a:rPr lang="en-US" sz="1050" dirty="0" err="1"/>
              <a:t>este</a:t>
            </a:r>
            <a:r>
              <a:rPr lang="en-US" sz="1050" dirty="0"/>
              <a:t> insula de </a:t>
            </a:r>
            <a:r>
              <a:rPr lang="en-US" sz="1050" dirty="0" err="1"/>
              <a:t>căldură</a:t>
            </a:r>
            <a:r>
              <a:rPr lang="en-US" sz="1050" dirty="0"/>
              <a:t> </a:t>
            </a:r>
            <a:r>
              <a:rPr lang="en-US" sz="1050" dirty="0" err="1"/>
              <a:t>și</a:t>
            </a:r>
            <a:r>
              <a:rPr lang="en-US" sz="1050" dirty="0"/>
              <a:t> </a:t>
            </a:r>
            <a:r>
              <a:rPr lang="en-US" sz="1050" dirty="0" err="1"/>
              <a:t>ce</a:t>
            </a:r>
            <a:r>
              <a:rPr lang="en-US" sz="1050" dirty="0"/>
              <a:t> o </a:t>
            </a:r>
            <a:r>
              <a:rPr lang="en-US" sz="1050" dirty="0" err="1"/>
              <a:t>explică</a:t>
            </a:r>
            <a:r>
              <a:rPr lang="en-US" sz="1050" dirty="0"/>
              <a:t>: </a:t>
            </a:r>
            <a:r>
              <a:rPr lang="en-US" sz="1050" dirty="0" err="1"/>
              <a:t>lipsa</a:t>
            </a:r>
            <a:r>
              <a:rPr lang="en-US" sz="1050" dirty="0"/>
              <a:t> </a:t>
            </a:r>
            <a:r>
              <a:rPr lang="en-US" sz="1050" dirty="0" err="1"/>
              <a:t>vegetației</a:t>
            </a:r>
            <a:r>
              <a:rPr lang="en-US" sz="1050" dirty="0"/>
              <a:t>, </a:t>
            </a:r>
            <a:r>
              <a:rPr lang="en-US" sz="1050" dirty="0" err="1"/>
              <a:t>densitatea</a:t>
            </a:r>
            <a:r>
              <a:rPr lang="en-US" sz="1050" dirty="0"/>
              <a:t> </a:t>
            </a:r>
            <a:r>
              <a:rPr lang="en-US" sz="1050" dirty="0" err="1"/>
              <a:t>sau</a:t>
            </a:r>
            <a:r>
              <a:rPr lang="en-US" sz="1050" dirty="0"/>
              <a:t> </a:t>
            </a:r>
            <a:r>
              <a:rPr lang="en-US" sz="1050" dirty="0" err="1"/>
              <a:t>înălțimea</a:t>
            </a:r>
            <a:r>
              <a:rPr lang="en-US" sz="1050" dirty="0"/>
              <a:t> </a:t>
            </a:r>
            <a:r>
              <a:rPr lang="en-US" sz="1050" dirty="0" err="1"/>
              <a:t>clădirilor</a:t>
            </a:r>
            <a:r>
              <a:rPr lang="en-US" sz="1050" dirty="0"/>
              <a:t>?</a:t>
            </a:r>
            <a:endParaRPr lang="ro-RO" sz="1050" dirty="0">
              <a:solidFill>
                <a:srgbClr val="6B7684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2310689"/>
            <a:ext cx="3840480" cy="852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Unitatea și sursele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0" i="0" dirty="0" err="1">
                <a:solidFill>
                  <a:srgbClr val="27272A"/>
                </a:solidFill>
                <a:effectLst/>
                <a:latin typeface="Inter"/>
              </a:rPr>
              <a:t>Celula</a:t>
            </a: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 </a:t>
            </a:r>
            <a:r>
              <a:rPr lang="en-US" sz="1050" b="0" i="0" dirty="0" err="1">
                <a:solidFill>
                  <a:srgbClr val="27272A"/>
                </a:solidFill>
                <a:effectLst/>
                <a:latin typeface="Inter"/>
              </a:rPr>
              <a:t>urbană</a:t>
            </a: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 500m. </a:t>
            </a:r>
            <a:endParaRPr lang="ro-RO" sz="1050" b="0" i="0" dirty="0">
              <a:solidFill>
                <a:srgbClr val="27272A"/>
              </a:solidFill>
              <a:effectLst/>
              <a:latin typeface="Inter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ro-RO" sz="1050" b="0" i="0" dirty="0">
                <a:solidFill>
                  <a:srgbClr val="27272A"/>
                </a:solidFill>
                <a:effectLst/>
                <a:latin typeface="Inter"/>
              </a:rPr>
              <a:t>Termic</a:t>
            </a: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: </a:t>
            </a:r>
            <a:r>
              <a:rPr lang="en-US" sz="1050" dirty="0"/>
              <a:t>Landsat 8/9 LST, Optic: S2 (GEE)</a:t>
            </a:r>
            <a:r>
              <a:rPr lang="ro-RO" sz="1050" dirty="0"/>
              <a:t>, </a:t>
            </a:r>
            <a:r>
              <a:rPr lang="en-US" sz="1050" dirty="0"/>
              <a:t> </a:t>
            </a:r>
            <a:r>
              <a:rPr lang="en-US" sz="1050" dirty="0" err="1"/>
              <a:t>Formă</a:t>
            </a:r>
            <a:r>
              <a:rPr lang="en-US" sz="1050" dirty="0"/>
              <a:t> </a:t>
            </a:r>
            <a:r>
              <a:rPr lang="en-US" sz="1050" dirty="0" err="1"/>
              <a:t>urbană</a:t>
            </a:r>
            <a:r>
              <a:rPr lang="en-US" sz="1050" dirty="0"/>
              <a:t>: </a:t>
            </a:r>
            <a:r>
              <a:rPr lang="ro-RO" sz="1050" dirty="0"/>
              <a:t>OSM (</a:t>
            </a: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cl</a:t>
            </a:r>
            <a:r>
              <a:rPr lang="ro-RO" sz="1050" b="0" i="0" dirty="0" err="1">
                <a:solidFill>
                  <a:srgbClr val="27272A"/>
                </a:solidFill>
                <a:effectLst/>
                <a:latin typeface="Inter"/>
              </a:rPr>
              <a:t>ădiri</a:t>
            </a:r>
            <a:r>
              <a:rPr lang="ro-RO" sz="1050" b="0" i="0" dirty="0">
                <a:solidFill>
                  <a:srgbClr val="27272A"/>
                </a:solidFill>
                <a:effectLst/>
                <a:latin typeface="Inter"/>
              </a:rPr>
              <a:t>, drumuri, parcuri)</a:t>
            </a: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 </a:t>
            </a:r>
            <a:r>
              <a:rPr lang="ro-RO" sz="1050" b="0" i="0" dirty="0">
                <a:solidFill>
                  <a:srgbClr val="27272A"/>
                </a:solidFill>
                <a:effectLst/>
                <a:latin typeface="Inter"/>
              </a:rPr>
              <a:t>și </a:t>
            </a:r>
            <a:r>
              <a:rPr lang="en-US" sz="1050" dirty="0"/>
              <a:t>GHSL</a:t>
            </a:r>
            <a:r>
              <a:rPr lang="ro-RO" sz="1050" dirty="0"/>
              <a:t> (</a:t>
            </a:r>
            <a:r>
              <a:rPr lang="en-US" sz="1050" dirty="0" err="1"/>
              <a:t>înălțimea</a:t>
            </a:r>
            <a:r>
              <a:rPr lang="en-US" sz="1050" dirty="0"/>
              <a:t> </a:t>
            </a:r>
            <a:r>
              <a:rPr lang="en-US" sz="1050" dirty="0" err="1"/>
              <a:t>clădirilor</a:t>
            </a:r>
            <a:r>
              <a:rPr lang="ro-RO" sz="1050" dirty="0"/>
              <a:t>)</a:t>
            </a: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. </a:t>
            </a:r>
            <a:endParaRPr lang="ro-RO" sz="1050" b="0" i="0" dirty="0">
              <a:solidFill>
                <a:srgbClr val="27272A"/>
              </a:solidFill>
              <a:effectLst/>
              <a:latin typeface="Inter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Pas: media </a:t>
            </a:r>
            <a:r>
              <a:rPr lang="en-US" sz="1050" b="0" i="0" dirty="0" err="1">
                <a:solidFill>
                  <a:srgbClr val="27272A"/>
                </a:solidFill>
                <a:effectLst/>
                <a:latin typeface="Inter"/>
              </a:rPr>
              <a:t>verii</a:t>
            </a:r>
            <a:r>
              <a:rPr lang="en-US" sz="1050" b="0" i="0" dirty="0">
                <a:solidFill>
                  <a:srgbClr val="27272A"/>
                </a:solidFill>
                <a:effectLst/>
                <a:latin typeface="Inter"/>
              </a:rPr>
              <a:t>.</a:t>
            </a:r>
            <a:endParaRPr lang="ro-RO" sz="1050" dirty="0">
              <a:solidFill>
                <a:srgbClr val="6B7684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339242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Cui îi folosește răspunsul</a:t>
            </a:r>
            <a:endParaRPr lang="en-US" sz="1100" dirty="0"/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</a:t>
            </a:r>
            <a:r>
              <a:rPr lang="ro-RO" altLang="en-US" sz="1050" dirty="0" err="1"/>
              <a:t>ăspunsul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ajută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autoritățile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urbaniștii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să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identifice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zonele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afectate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insula de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căldură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factorii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care o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favorizează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pentru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prioritiza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măsuri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precum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extinderea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spațiilor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verzi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și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adaptarea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dezvoltării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urbane la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temperaturile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ridicate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spcAft>
                <a:spcPts val="500"/>
              </a:spcAft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931920" cy="219456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566160" cy="1605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B2A41"/>
                </a:solidFill>
              </a:rPr>
              <a:t>Unde am ajuns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accent4">
                    <a:lumMod val="10000"/>
                  </a:schemeClr>
                </a:solidFill>
              </a:rPr>
              <a:t>Etapa curentă: </a:t>
            </a:r>
            <a:r>
              <a:rPr lang="ro-RO" sz="1050" dirty="0">
                <a:solidFill>
                  <a:schemeClr val="accent4">
                    <a:lumMod val="10000"/>
                  </a:schemeClr>
                </a:solidFill>
              </a:rPr>
              <a:t>Fișa de concept.</a:t>
            </a:r>
            <a:endParaRPr lang="en-US" sz="1100" dirty="0">
              <a:solidFill>
                <a:schemeClr val="accent4">
                  <a:lumMod val="10000"/>
                </a:schemeClr>
              </a:solidFill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accent4">
                    <a:lumMod val="10000"/>
                  </a:schemeClr>
                </a:solidFill>
              </a:rPr>
              <a:t>Făcut de la ultimul checkpoint: </a:t>
            </a:r>
            <a:r>
              <a:rPr lang="ro-RO" sz="1050" dirty="0">
                <a:solidFill>
                  <a:schemeClr val="accent4">
                    <a:lumMod val="10000"/>
                  </a:schemeClr>
                </a:solidFill>
              </a:rPr>
              <a:t>alegerea unității, întrebării, surselor și articolelor ancoră.</a:t>
            </a:r>
            <a:endParaRPr lang="en-US" sz="1100" dirty="0">
              <a:solidFill>
                <a:schemeClr val="accent4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accent4">
                    <a:lumMod val="10000"/>
                  </a:schemeClr>
                </a:solidFill>
              </a:rPr>
              <a:t>Ce am schimbat față de plan:</a:t>
            </a:r>
            <a:r>
              <a:rPr lang="ro-RO" sz="105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en-US" sz="1050" dirty="0" err="1">
                <a:solidFill>
                  <a:schemeClr val="accent4">
                    <a:lumMod val="10000"/>
                  </a:schemeClr>
                </a:solidFill>
              </a:rPr>
              <a:t>nimic</a:t>
            </a:r>
            <a:r>
              <a:rPr lang="ro-RO" sz="1050" dirty="0">
                <a:solidFill>
                  <a:schemeClr val="accent4">
                    <a:lumMod val="10000"/>
                  </a:schemeClr>
                </a:solidFill>
              </a:rPr>
              <a:t>.</a:t>
            </a:r>
            <a:endParaRPr lang="en-US" sz="1100" dirty="0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</a:rPr>
              <a:t>Slide 1 din 3 · Fișier Moodle: CP</a:t>
            </a:r>
            <a:r>
              <a:rPr lang="ro-RO" sz="900" dirty="0">
                <a:solidFill>
                  <a:srgbClr val="6B7684"/>
                </a:solidFill>
              </a:rPr>
              <a:t>0</a:t>
            </a:r>
            <a:r>
              <a:rPr lang="en-US" sz="900" dirty="0">
                <a:solidFill>
                  <a:srgbClr val="6B7684"/>
                </a:solidFill>
              </a:rPr>
              <a:t>_</a:t>
            </a:r>
            <a:r>
              <a:rPr lang="ro-RO" sz="900" dirty="0">
                <a:solidFill>
                  <a:srgbClr val="6B7684"/>
                </a:solidFill>
              </a:rPr>
              <a:t>U13</a:t>
            </a:r>
            <a:r>
              <a:rPr lang="en-US" sz="900" dirty="0">
                <a:solidFill>
                  <a:srgbClr val="6B7684"/>
                </a:solidFill>
              </a:rPr>
              <a:t>.pdf · Prezentare: 3 minute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EB3708-B543-4DE7-BDED-F5761E57E8D8}"/>
              </a:ext>
            </a:extLst>
          </p:cNvPr>
          <p:cNvSpPr txBox="1"/>
          <p:nvPr/>
        </p:nvSpPr>
        <p:spPr>
          <a:xfrm>
            <a:off x="44450" y="445311"/>
            <a:ext cx="28765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Sursa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1 (</a:t>
            </a: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Termic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Nume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1050" dirty="0"/>
              <a:t>USGS Landsat 9 Level 2, Collection 2</a:t>
            </a:r>
            <a:endParaRPr lang="ro-RO" sz="105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 </a:t>
            </a: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 </a:t>
            </a: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descarcă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Google Earth Engine (GEE). https://code.earthengine.google.com/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DF20C1-C531-4DA7-B9B7-E954E0675092}"/>
              </a:ext>
            </a:extLst>
          </p:cNvPr>
          <p:cNvGrpSpPr/>
          <p:nvPr/>
        </p:nvGrpSpPr>
        <p:grpSpPr>
          <a:xfrm>
            <a:off x="2654259" y="39288"/>
            <a:ext cx="3041690" cy="1630051"/>
            <a:chOff x="2654259" y="39288"/>
            <a:chExt cx="3041690" cy="163005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C3F5DC3-95E7-4E41-BCA9-77EEED699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4259" y="39288"/>
              <a:ext cx="3041690" cy="163005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94310B-F317-478A-9728-F533CF5DC7C9}"/>
                </a:ext>
              </a:extLst>
            </p:cNvPr>
            <p:cNvSpPr/>
            <p:nvPr/>
          </p:nvSpPr>
          <p:spPr>
            <a:xfrm>
              <a:off x="3448029" y="252413"/>
              <a:ext cx="704850" cy="14446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C4F31D1A-4A8C-4528-BF14-84572EC70F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2823"/>
          <a:stretch/>
        </p:blipFill>
        <p:spPr>
          <a:xfrm>
            <a:off x="5974080" y="39289"/>
            <a:ext cx="2899158" cy="16317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474B5D-D030-4D8D-9E89-0E321FDA3422}"/>
              </a:ext>
            </a:extLst>
          </p:cNvPr>
          <p:cNvSpPr txBox="1"/>
          <p:nvPr/>
        </p:nvSpPr>
        <p:spPr>
          <a:xfrm>
            <a:off x="103117" y="1774462"/>
            <a:ext cx="334491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Sursa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 (Optic):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Nume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Sentinel-2 (S2).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 </a:t>
            </a: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 </a:t>
            </a: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descarcă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Google Earth Engine (GEE).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8A9FEB-15AE-4B26-A6FA-6C234764B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52" y="2370388"/>
            <a:ext cx="3200441" cy="14665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8FDBC50-909F-4C15-BCBB-F64A71A8A7F8}"/>
              </a:ext>
            </a:extLst>
          </p:cNvPr>
          <p:cNvSpPr txBox="1"/>
          <p:nvPr/>
        </p:nvSpPr>
        <p:spPr>
          <a:xfrm>
            <a:off x="3924300" y="1757729"/>
            <a:ext cx="518404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Sursa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3 (</a:t>
            </a: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Formă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urbană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Nume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OpenStreetMap (OSM) -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clădiri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drumuri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parcuri</a:t>
            </a:r>
            <a:r>
              <a:rPr lang="en-US" altLang="en-US" sz="1050" dirty="0"/>
              <a:t>, </a:t>
            </a:r>
            <a:r>
              <a:rPr lang="en-US" sz="1050" dirty="0"/>
              <a:t>GHSL - </a:t>
            </a:r>
            <a:r>
              <a:rPr lang="en-US" sz="1050" dirty="0" err="1"/>
              <a:t>înălțimea</a:t>
            </a:r>
            <a:r>
              <a:rPr lang="en-US" sz="1050" dirty="0"/>
              <a:t> </a:t>
            </a:r>
            <a:r>
              <a:rPr lang="en-US" sz="1050" dirty="0" err="1"/>
              <a:t>clădirilor</a:t>
            </a:r>
            <a:r>
              <a:rPr lang="en-US" sz="1050" dirty="0"/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 </a:t>
            </a: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 </a:t>
            </a:r>
            <a:r>
              <a:rPr kumimoji="0" lang="en-US" altLang="en-US" sz="105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descarcă</a:t>
            </a: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en-US" sz="1050" dirty="0"/>
              <a:t>API-ul Overpass (</a:t>
            </a:r>
            <a:r>
              <a:rPr lang="en-US" sz="1050" dirty="0" err="1"/>
              <a:t>prin</a:t>
            </a:r>
            <a:r>
              <a:rPr lang="en-US" sz="1050" dirty="0"/>
              <a:t> </a:t>
            </a:r>
            <a:r>
              <a:rPr lang="en-US" sz="1050" dirty="0" err="1"/>
              <a:t>biblioteca</a:t>
            </a:r>
            <a:r>
              <a:rPr lang="en-US" sz="1050" dirty="0"/>
              <a:t> Python </a:t>
            </a:r>
            <a:r>
              <a:rPr lang="en-US" sz="1050" dirty="0" err="1"/>
              <a:t>OSMnx</a:t>
            </a:r>
            <a:r>
              <a:rPr lang="en-US" sz="1050" dirty="0"/>
              <a:t>),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Google Earth Engine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EFC04F-D49D-4DE6-A241-2A1B37CE270C}"/>
              </a:ext>
            </a:extLst>
          </p:cNvPr>
          <p:cNvCxnSpPr>
            <a:cxnSpLocks/>
          </p:cNvCxnSpPr>
          <p:nvPr/>
        </p:nvCxnSpPr>
        <p:spPr>
          <a:xfrm>
            <a:off x="103117" y="1742866"/>
            <a:ext cx="8937766" cy="297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359F12DD-F8D7-487B-B57C-78C5C0244E2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2222"/>
          <a:stretch/>
        </p:blipFill>
        <p:spPr>
          <a:xfrm>
            <a:off x="4229061" y="2293440"/>
            <a:ext cx="1539148" cy="1620947"/>
          </a:xfrm>
          <a:prstGeom prst="rect">
            <a:avLst/>
          </a:prstGeom>
        </p:spPr>
      </p:pic>
      <p:sp>
        <p:nvSpPr>
          <p:cNvPr id="25" name="Text 0">
            <a:extLst>
              <a:ext uri="{FF2B5EF4-FFF2-40B4-BE49-F238E27FC236}">
                <a16:creationId xmlns:a16="http://schemas.microsoft.com/office/drawing/2014/main" id="{7E51B5FC-5832-412B-8E70-5F55866B0D18}"/>
              </a:ext>
            </a:extLst>
          </p:cNvPr>
          <p:cNvSpPr txBox="1"/>
          <p:nvPr/>
        </p:nvSpPr>
        <p:spPr>
          <a:xfrm>
            <a:off x="103117" y="8691"/>
            <a:ext cx="21574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DOVADA ETAPEI</a:t>
            </a:r>
            <a:endParaRPr lang="en-US" sz="9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E596A6-6996-4D64-927F-33952CD2FFFE}"/>
              </a:ext>
            </a:extLst>
          </p:cNvPr>
          <p:cNvSpPr txBox="1"/>
          <p:nvPr/>
        </p:nvSpPr>
        <p:spPr>
          <a:xfrm>
            <a:off x="0" y="3975482"/>
            <a:ext cx="9108348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50" b="1" dirty="0" err="1"/>
              <a:t>Articolul</a:t>
            </a:r>
            <a:r>
              <a:rPr lang="en-US" sz="1050" b="1" dirty="0"/>
              <a:t> 1:</a:t>
            </a:r>
            <a:r>
              <a:rPr lang="en-US" sz="1050" dirty="0"/>
              <a:t> </a:t>
            </a:r>
            <a:r>
              <a:rPr lang="en-US" sz="1050" i="1" dirty="0"/>
              <a:t>Quantifying the cooling effect of green spaces on urban heat island effect</a:t>
            </a:r>
            <a:r>
              <a:rPr lang="ro-RO" sz="1050" i="1" dirty="0"/>
              <a:t>.</a:t>
            </a:r>
            <a:r>
              <a:rPr lang="en-US" sz="1050" dirty="0"/>
              <a:t> (2025)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50" b="1" dirty="0" err="1"/>
              <a:t>Relevanță</a:t>
            </a:r>
            <a:r>
              <a:rPr lang="en-US" sz="1050" b="1" dirty="0"/>
              <a:t>:</a:t>
            </a:r>
            <a:r>
              <a:rPr lang="en-US" sz="1050" dirty="0"/>
              <a:t> </a:t>
            </a:r>
            <a:r>
              <a:rPr lang="en-US" sz="1050" dirty="0" err="1"/>
              <a:t>Studiul</a:t>
            </a:r>
            <a:r>
              <a:rPr lang="en-US" sz="1050" dirty="0"/>
              <a:t> </a:t>
            </a:r>
            <a:r>
              <a:rPr lang="en-US" sz="1050" dirty="0" err="1"/>
              <a:t>procesează</a:t>
            </a:r>
            <a:r>
              <a:rPr lang="en-US" sz="1050" dirty="0"/>
              <a:t> </a:t>
            </a:r>
            <a:r>
              <a:rPr lang="en-US" sz="1050" dirty="0" err="1"/>
              <a:t>imagini</a:t>
            </a:r>
            <a:r>
              <a:rPr lang="en-US" sz="1050" dirty="0"/>
              <a:t> </a:t>
            </a:r>
            <a:r>
              <a:rPr lang="en-US" sz="1050" dirty="0" err="1"/>
              <a:t>satelitare</a:t>
            </a:r>
            <a:r>
              <a:rPr lang="en-US" sz="1050" dirty="0"/>
              <a:t> Landsat </a:t>
            </a:r>
            <a:r>
              <a:rPr lang="en-US" sz="1050" dirty="0" err="1"/>
              <a:t>în</a:t>
            </a:r>
            <a:r>
              <a:rPr lang="en-US" sz="1050" dirty="0"/>
              <a:t> Google Earth Engine (GEE) </a:t>
            </a:r>
            <a:r>
              <a:rPr lang="en-US" sz="1050" dirty="0" err="1"/>
              <a:t>pentru</a:t>
            </a:r>
            <a:r>
              <a:rPr lang="en-US" sz="1050" dirty="0"/>
              <a:t> a </a:t>
            </a:r>
            <a:r>
              <a:rPr lang="en-US" sz="1050" dirty="0" err="1"/>
              <a:t>măsura</a:t>
            </a:r>
            <a:r>
              <a:rPr lang="en-US" sz="1050" dirty="0"/>
              <a:t> cum </a:t>
            </a:r>
            <a:r>
              <a:rPr lang="en-US" sz="1050" dirty="0" err="1"/>
              <a:t>parcurile</a:t>
            </a:r>
            <a:r>
              <a:rPr lang="en-US" sz="1050" dirty="0"/>
              <a:t> (</a:t>
            </a:r>
            <a:r>
              <a:rPr lang="en-US" sz="1050" dirty="0" err="1"/>
              <a:t>spațiile</a:t>
            </a:r>
            <a:r>
              <a:rPr lang="en-US" sz="1050" dirty="0"/>
              <a:t> </a:t>
            </a:r>
            <a:r>
              <a:rPr lang="en-US" sz="1050" dirty="0" err="1"/>
              <a:t>verzi</a:t>
            </a:r>
            <a:r>
              <a:rPr lang="en-US" sz="1050" dirty="0"/>
              <a:t>) </a:t>
            </a:r>
            <a:r>
              <a:rPr lang="en-US" sz="1050" dirty="0" err="1"/>
              <a:t>reduc</a:t>
            </a:r>
            <a:r>
              <a:rPr lang="en-US" sz="1050" dirty="0"/>
              <a:t> </a:t>
            </a:r>
            <a:r>
              <a:rPr lang="en-US" sz="1050" dirty="0" err="1"/>
              <a:t>temperatura</a:t>
            </a:r>
            <a:r>
              <a:rPr lang="en-US" sz="1050" dirty="0"/>
              <a:t> la </a:t>
            </a:r>
            <a:r>
              <a:rPr lang="en-US" sz="1050" dirty="0" err="1"/>
              <a:t>suprafață</a:t>
            </a:r>
            <a:r>
              <a:rPr lang="en-US" sz="1050" dirty="0"/>
              <a:t> (LST). </a:t>
            </a:r>
            <a:r>
              <a:rPr lang="en-US" sz="1050" dirty="0" err="1"/>
              <a:t>Lucrarea</a:t>
            </a:r>
            <a:r>
              <a:rPr lang="en-US" sz="1050" dirty="0"/>
              <a:t> </a:t>
            </a:r>
            <a:r>
              <a:rPr lang="en-US" sz="1050" dirty="0" err="1"/>
              <a:t>validează</a:t>
            </a:r>
            <a:r>
              <a:rPr lang="en-US" sz="1050" dirty="0"/>
              <a:t> </a:t>
            </a:r>
            <a:r>
              <a:rPr lang="en-US" sz="1050" dirty="0" err="1"/>
              <a:t>metoda</a:t>
            </a:r>
            <a:r>
              <a:rPr lang="en-US" sz="1050" dirty="0"/>
              <a:t> de a </a:t>
            </a:r>
            <a:r>
              <a:rPr lang="en-US" sz="1050" dirty="0" err="1"/>
              <a:t>corela</a:t>
            </a:r>
            <a:r>
              <a:rPr lang="en-US" sz="1050" dirty="0"/>
              <a:t> </a:t>
            </a:r>
            <a:r>
              <a:rPr lang="en-US" sz="1050" dirty="0" err="1"/>
              <a:t>datele</a:t>
            </a:r>
            <a:r>
              <a:rPr lang="en-US" sz="1050" dirty="0"/>
              <a:t> </a:t>
            </a:r>
            <a:r>
              <a:rPr lang="en-US" sz="1050" dirty="0" err="1"/>
              <a:t>termice</a:t>
            </a:r>
            <a:r>
              <a:rPr lang="en-US" sz="1050" dirty="0"/>
              <a:t> cu </a:t>
            </a:r>
            <a:r>
              <a:rPr lang="en-US" sz="1050" dirty="0" err="1"/>
              <a:t>poligoanele</a:t>
            </a:r>
            <a:r>
              <a:rPr lang="en-US" sz="1050" dirty="0"/>
              <a:t> </a:t>
            </a:r>
            <a:r>
              <a:rPr lang="en-US" sz="1050" dirty="0" err="1"/>
              <a:t>parcurilor</a:t>
            </a:r>
            <a:r>
              <a:rPr lang="en-US" sz="1050" dirty="0"/>
              <a:t> (</a:t>
            </a:r>
            <a:r>
              <a:rPr lang="en-US" sz="1050" dirty="0" err="1"/>
              <a:t>similare</a:t>
            </a:r>
            <a:r>
              <a:rPr lang="en-US" sz="1050" dirty="0"/>
              <a:t> cu </a:t>
            </a:r>
            <a:r>
              <a:rPr lang="en-US" sz="1050" dirty="0" err="1"/>
              <a:t>cele</a:t>
            </a:r>
            <a:r>
              <a:rPr lang="en-US" sz="1050" dirty="0"/>
              <a:t> </a:t>
            </a:r>
            <a:r>
              <a:rPr lang="en-US" sz="1050" dirty="0" err="1"/>
              <a:t>extrase</a:t>
            </a:r>
            <a:r>
              <a:rPr lang="en-US" sz="1050" dirty="0"/>
              <a:t> din OSM), </a:t>
            </a:r>
            <a:r>
              <a:rPr lang="en-US" sz="1050" dirty="0" err="1"/>
              <a:t>calculând</a:t>
            </a:r>
            <a:r>
              <a:rPr lang="en-US" sz="1050" dirty="0"/>
              <a:t> </a:t>
            </a:r>
            <a:r>
              <a:rPr lang="en-US" sz="1050" dirty="0" err="1"/>
              <a:t>distanța</a:t>
            </a:r>
            <a:r>
              <a:rPr lang="en-US" sz="1050" dirty="0"/>
              <a:t> de </a:t>
            </a:r>
            <a:r>
              <a:rPr lang="en-US" sz="1050" dirty="0" err="1"/>
              <a:t>răcire</a:t>
            </a:r>
            <a:r>
              <a:rPr lang="en-US" sz="1050" dirty="0"/>
              <a:t> </a:t>
            </a:r>
            <a:r>
              <a:rPr lang="en-US" sz="1050" dirty="0" err="1"/>
              <a:t>și</a:t>
            </a:r>
            <a:r>
              <a:rPr lang="en-US" sz="1050" dirty="0"/>
              <a:t> </a:t>
            </a:r>
            <a:r>
              <a:rPr lang="en-US" sz="1050" dirty="0" err="1"/>
              <a:t>modul</a:t>
            </a:r>
            <a:r>
              <a:rPr lang="en-US" sz="1050" dirty="0"/>
              <a:t> </a:t>
            </a:r>
            <a:r>
              <a:rPr lang="en-US" sz="1050" dirty="0" err="1"/>
              <a:t>în</a:t>
            </a:r>
            <a:r>
              <a:rPr lang="en-US" sz="1050" dirty="0"/>
              <a:t> care </a:t>
            </a:r>
            <a:r>
              <a:rPr lang="en-US" sz="1050" dirty="0" err="1"/>
              <a:t>absența</a:t>
            </a:r>
            <a:r>
              <a:rPr lang="en-US" sz="1050" dirty="0"/>
              <a:t> </a:t>
            </a:r>
            <a:r>
              <a:rPr lang="en-US" sz="1050" dirty="0" err="1"/>
              <a:t>vegetației</a:t>
            </a:r>
            <a:r>
              <a:rPr lang="en-US" sz="1050" dirty="0"/>
              <a:t> </a:t>
            </a:r>
            <a:r>
              <a:rPr lang="en-US" sz="1050" dirty="0" err="1"/>
              <a:t>intensifică</a:t>
            </a:r>
            <a:r>
              <a:rPr lang="en-US" sz="1050" dirty="0"/>
              <a:t> insula de </a:t>
            </a:r>
            <a:r>
              <a:rPr lang="en-US" sz="1050" dirty="0" err="1"/>
              <a:t>căldură</a:t>
            </a:r>
            <a:r>
              <a:rPr lang="en-US" sz="1050" dirty="0"/>
              <a:t> </a:t>
            </a:r>
            <a:r>
              <a:rPr lang="en-US" sz="1050" dirty="0" err="1"/>
              <a:t>urbană</a:t>
            </a:r>
            <a:r>
              <a:rPr lang="en-US" sz="1050" dirty="0"/>
              <a:t>.</a:t>
            </a:r>
            <a:endParaRPr lang="ro-RO" sz="1050" dirty="0"/>
          </a:p>
          <a:p>
            <a:pPr algn="just"/>
            <a:r>
              <a:rPr lang="en-US" sz="1050" b="1" dirty="0" err="1"/>
              <a:t>Articolul</a:t>
            </a:r>
            <a:r>
              <a:rPr lang="en-US" sz="1050" b="1" dirty="0"/>
              <a:t> 2:</a:t>
            </a:r>
            <a:r>
              <a:rPr lang="en-US" sz="1050" dirty="0"/>
              <a:t> </a:t>
            </a:r>
            <a:r>
              <a:rPr lang="en-US" sz="1050" i="1" dirty="0"/>
              <a:t>Analysis of the impact mechanisms and driving factors of urban spatial morphology</a:t>
            </a:r>
            <a:r>
              <a:rPr lang="ro-RO" sz="1050" i="1" dirty="0"/>
              <a:t> on urban </a:t>
            </a:r>
            <a:r>
              <a:rPr lang="ro-RO" sz="1050" i="1" dirty="0" err="1"/>
              <a:t>heat</a:t>
            </a:r>
            <a:r>
              <a:rPr lang="ro-RO" sz="1050" i="1" dirty="0"/>
              <a:t> </a:t>
            </a:r>
            <a:r>
              <a:rPr lang="ro-RO" sz="1050" i="1" dirty="0" err="1"/>
              <a:t>islands</a:t>
            </a:r>
            <a:r>
              <a:rPr lang="ro-RO" sz="1050" i="1" dirty="0"/>
              <a:t>.</a:t>
            </a:r>
            <a:r>
              <a:rPr lang="en-US" sz="1050" dirty="0"/>
              <a:t> (2025)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50" b="1" dirty="0" err="1"/>
              <a:t>Relevanță</a:t>
            </a:r>
            <a:r>
              <a:rPr lang="en-US" sz="1050" b="1" dirty="0"/>
              <a:t>:</a:t>
            </a:r>
            <a:r>
              <a:rPr lang="en-US" sz="1050" dirty="0"/>
              <a:t> </a:t>
            </a:r>
            <a:r>
              <a:rPr lang="en-US" sz="1050" dirty="0" err="1"/>
              <a:t>Demonstrează</a:t>
            </a:r>
            <a:r>
              <a:rPr lang="en-US" sz="1050" dirty="0"/>
              <a:t> </a:t>
            </a:r>
            <a:r>
              <a:rPr lang="en-US" sz="1050" dirty="0" err="1"/>
              <a:t>matematic</a:t>
            </a:r>
            <a:r>
              <a:rPr lang="en-US" sz="1050" dirty="0"/>
              <a:t> </a:t>
            </a:r>
            <a:r>
              <a:rPr lang="en-US" sz="1050" dirty="0" err="1"/>
              <a:t>impactul</a:t>
            </a:r>
            <a:r>
              <a:rPr lang="en-US" sz="1050" dirty="0"/>
              <a:t> </a:t>
            </a:r>
            <a:r>
              <a:rPr lang="en-US" sz="1050" dirty="0" err="1"/>
              <a:t>combinat</a:t>
            </a:r>
            <a:r>
              <a:rPr lang="en-US" sz="1050" dirty="0"/>
              <a:t> al </a:t>
            </a:r>
            <a:r>
              <a:rPr lang="en-US" sz="1050" dirty="0" err="1"/>
              <a:t>densității</a:t>
            </a:r>
            <a:r>
              <a:rPr lang="en-US" sz="1050" dirty="0"/>
              <a:t>/</a:t>
            </a:r>
            <a:r>
              <a:rPr lang="en-US" sz="1050" dirty="0" err="1"/>
              <a:t>înălțimii</a:t>
            </a:r>
            <a:r>
              <a:rPr lang="en-US" sz="1050" dirty="0"/>
              <a:t> </a:t>
            </a:r>
            <a:r>
              <a:rPr lang="en-US" sz="1050" dirty="0" err="1"/>
              <a:t>clădirilor</a:t>
            </a:r>
            <a:r>
              <a:rPr lang="en-US" sz="1050" dirty="0"/>
              <a:t> </a:t>
            </a:r>
            <a:r>
              <a:rPr lang="en-US" sz="1050" dirty="0" err="1"/>
              <a:t>și</a:t>
            </a:r>
            <a:r>
              <a:rPr lang="en-US" sz="1050" dirty="0"/>
              <a:t> </a:t>
            </a:r>
            <a:r>
              <a:rPr lang="en-US" sz="1050" dirty="0" err="1"/>
              <a:t>vegetației</a:t>
            </a:r>
            <a:r>
              <a:rPr lang="en-US" sz="1050" dirty="0"/>
              <a:t> (NDVI</a:t>
            </a:r>
            <a:r>
              <a:rPr lang="ro-RO" sz="1050" dirty="0"/>
              <a:t>) </a:t>
            </a:r>
            <a:r>
              <a:rPr lang="en-US" sz="1050" dirty="0" err="1"/>
              <a:t>asupra</a:t>
            </a:r>
            <a:r>
              <a:rPr lang="en-US" sz="1050" dirty="0"/>
              <a:t> </a:t>
            </a:r>
            <a:r>
              <a:rPr lang="en-US" sz="1050" dirty="0" err="1"/>
              <a:t>generării</a:t>
            </a:r>
            <a:r>
              <a:rPr lang="en-US" sz="1050" dirty="0"/>
              <a:t> </a:t>
            </a:r>
            <a:r>
              <a:rPr lang="en-US" sz="1050" dirty="0" err="1"/>
              <a:t>insulei</a:t>
            </a:r>
            <a:r>
              <a:rPr lang="en-US" sz="1050" dirty="0"/>
              <a:t> de </a:t>
            </a:r>
            <a:r>
              <a:rPr lang="en-US" sz="1050" dirty="0" err="1"/>
              <a:t>căldură</a:t>
            </a:r>
            <a:r>
              <a:rPr lang="ro-RO" sz="1050" dirty="0"/>
              <a:t>.</a:t>
            </a:r>
            <a:endParaRPr lang="en-US" sz="10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9CB3388-79D5-4FA5-A74A-F978E88DAB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7837" y="2284055"/>
            <a:ext cx="2782750" cy="163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64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2590" y="27880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702A"/>
                </a:solidFill>
              </a:rPr>
              <a:t>BLOCAJE ȘI URMĂTOARELE DOUĂ SĂPTĂMÂNI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02590" y="609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Blocaje și următorii pași la CP</a:t>
            </a:r>
            <a:r>
              <a:rPr lang="ro-RO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02590" y="134112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Blocaje</a:t>
            </a:r>
            <a:endParaRPr lang="en-US" sz="1100" dirty="0">
              <a:solidFill>
                <a:schemeClr val="accent2"/>
              </a:solidFill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ro-RO" sz="1050" dirty="0">
                <a:solidFill>
                  <a:schemeClr val="accent2"/>
                </a:solidFill>
              </a:rPr>
              <a:t>Nu există blocaje in etapa curentă.</a:t>
            </a:r>
            <a:br>
              <a:rPr lang="ro-RO" sz="1050" dirty="0">
                <a:solidFill>
                  <a:schemeClr val="accent2"/>
                </a:solidFill>
              </a:rPr>
            </a:br>
            <a:r>
              <a:rPr lang="ro-RO" sz="1050" dirty="0">
                <a:solidFill>
                  <a:schemeClr val="accent2"/>
                </a:solidFill>
              </a:rPr>
              <a:t>Risc</a:t>
            </a:r>
            <a:r>
              <a:rPr lang="en-US" sz="1050" dirty="0" err="1">
                <a:solidFill>
                  <a:schemeClr val="accent2"/>
                </a:solidFill>
              </a:rPr>
              <a:t>uri</a:t>
            </a:r>
            <a:r>
              <a:rPr lang="ro-RO" sz="1050" dirty="0">
                <a:solidFill>
                  <a:schemeClr val="accent2"/>
                </a:solidFill>
              </a:rPr>
              <a:t> identificat</a:t>
            </a:r>
            <a:r>
              <a:rPr lang="en-US" sz="1050" dirty="0">
                <a:solidFill>
                  <a:schemeClr val="accent2"/>
                </a:solidFill>
              </a:rPr>
              <a:t>e:</a:t>
            </a:r>
          </a:p>
          <a:p>
            <a:r>
              <a:rPr lang="en-US" sz="1050" b="1" dirty="0">
                <a:solidFill>
                  <a:schemeClr val="accent2"/>
                </a:solidFill>
              </a:rPr>
              <a:t>1. </a:t>
            </a:r>
            <a:r>
              <a:rPr lang="en-US" sz="1050" b="1" dirty="0" err="1">
                <a:solidFill>
                  <a:schemeClr val="accent2"/>
                </a:solidFill>
              </a:rPr>
              <a:t>Raport</a:t>
            </a:r>
            <a:r>
              <a:rPr lang="en-US" sz="1050" b="1" dirty="0">
                <a:solidFill>
                  <a:schemeClr val="accent2"/>
                </a:solidFill>
              </a:rPr>
              <a:t> de </a:t>
            </a:r>
            <a:r>
              <a:rPr lang="en-US" sz="1050" b="1" dirty="0" err="1">
                <a:solidFill>
                  <a:schemeClr val="accent2"/>
                </a:solidFill>
              </a:rPr>
              <a:t>acoperire</a:t>
            </a:r>
            <a:r>
              <a:rPr lang="en-US" sz="1050" b="1" dirty="0">
                <a:solidFill>
                  <a:schemeClr val="accent2"/>
                </a:solidFill>
              </a:rPr>
              <a:t> </a:t>
            </a:r>
            <a:r>
              <a:rPr lang="en-US" sz="1050" b="1" dirty="0" err="1">
                <a:solidFill>
                  <a:schemeClr val="accent2"/>
                </a:solidFill>
              </a:rPr>
              <a:t>scăzut</a:t>
            </a:r>
            <a:r>
              <a:rPr lang="en-US" sz="1050" b="1" dirty="0">
                <a:solidFill>
                  <a:schemeClr val="accent2"/>
                </a:solidFill>
              </a:rPr>
              <a:t> (</a:t>
            </a:r>
            <a:r>
              <a:rPr lang="en-US" sz="1050" b="1" dirty="0" err="1">
                <a:solidFill>
                  <a:schemeClr val="accent2"/>
                </a:solidFill>
              </a:rPr>
              <a:t>Pierderi</a:t>
            </a:r>
            <a:r>
              <a:rPr lang="en-US" sz="1050" b="1" dirty="0">
                <a:solidFill>
                  <a:schemeClr val="accent2"/>
                </a:solidFill>
              </a:rPr>
              <a:t> la </a:t>
            </a:r>
            <a:r>
              <a:rPr lang="en-US" sz="1050" b="1" dirty="0" err="1">
                <a:solidFill>
                  <a:schemeClr val="accent2"/>
                </a:solidFill>
              </a:rPr>
              <a:t>alinierea</a:t>
            </a:r>
            <a:r>
              <a:rPr lang="en-US" sz="1050" b="1" dirty="0">
                <a:solidFill>
                  <a:schemeClr val="accent2"/>
                </a:solidFill>
              </a:rPr>
              <a:t> </a:t>
            </a:r>
            <a:r>
              <a:rPr lang="en-US" sz="1050" b="1" dirty="0" err="1">
                <a:solidFill>
                  <a:schemeClr val="accent2"/>
                </a:solidFill>
              </a:rPr>
              <a:t>spațială</a:t>
            </a:r>
            <a:r>
              <a:rPr lang="en-US" sz="1050" b="1" dirty="0">
                <a:solidFill>
                  <a:schemeClr val="accent2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chemeClr val="accent2"/>
                </a:solidFill>
              </a:rPr>
              <a:t>Cauza</a:t>
            </a:r>
            <a:r>
              <a:rPr lang="en-US" sz="1050" b="1" dirty="0">
                <a:solidFill>
                  <a:schemeClr val="accent2"/>
                </a:solidFill>
              </a:rPr>
              <a:t>: </a:t>
            </a:r>
            <a:r>
              <a:rPr lang="en-US" sz="1050" dirty="0" err="1">
                <a:solidFill>
                  <a:schemeClr val="accent2"/>
                </a:solidFill>
              </a:rPr>
              <a:t>Trecerea</a:t>
            </a:r>
            <a:r>
              <a:rPr lang="en-US" sz="1050" dirty="0">
                <a:solidFill>
                  <a:schemeClr val="accent2"/>
                </a:solidFill>
              </a:rPr>
              <a:t> de la </a:t>
            </a:r>
            <a:r>
              <a:rPr lang="en-US" sz="1050" dirty="0" err="1">
                <a:solidFill>
                  <a:schemeClr val="accent2"/>
                </a:solidFill>
              </a:rPr>
              <a:t>formate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r>
              <a:rPr lang="en-US" sz="1050" dirty="0" err="1">
                <a:solidFill>
                  <a:schemeClr val="accent2"/>
                </a:solidFill>
              </a:rPr>
              <a:t>eterogene</a:t>
            </a:r>
            <a:r>
              <a:rPr lang="en-US" sz="1050" dirty="0">
                <a:solidFill>
                  <a:schemeClr val="accent2"/>
                </a:solidFill>
              </a:rPr>
              <a:t> (Raster </a:t>
            </a:r>
            <a:r>
              <a:rPr lang="en-US" sz="1050" dirty="0" err="1">
                <a:solidFill>
                  <a:schemeClr val="accent2"/>
                </a:solidFill>
              </a:rPr>
              <a:t>pentru</a:t>
            </a:r>
            <a:r>
              <a:rPr lang="en-US" sz="1050" dirty="0">
                <a:solidFill>
                  <a:schemeClr val="accent2"/>
                </a:solidFill>
              </a:rPr>
              <a:t> Landsat/Sentinel vs. Vector </a:t>
            </a:r>
            <a:r>
              <a:rPr lang="en-US" sz="1050" dirty="0" err="1">
                <a:solidFill>
                  <a:schemeClr val="accent2"/>
                </a:solidFill>
              </a:rPr>
              <a:t>pentru</a:t>
            </a:r>
            <a:r>
              <a:rPr lang="en-US" sz="1050" dirty="0">
                <a:solidFill>
                  <a:schemeClr val="accent2"/>
                </a:solidFill>
              </a:rPr>
              <a:t> OSM) la un grid </a:t>
            </a:r>
            <a:r>
              <a:rPr lang="en-US" sz="1050" dirty="0" err="1">
                <a:solidFill>
                  <a:schemeClr val="accent2"/>
                </a:solidFill>
              </a:rPr>
              <a:t>comun</a:t>
            </a:r>
            <a:r>
              <a:rPr lang="en-US" sz="1050" dirty="0">
                <a:solidFill>
                  <a:schemeClr val="accent2"/>
                </a:solidFill>
              </a:rPr>
              <a:t> de 100-500m (</a:t>
            </a:r>
            <a:r>
              <a:rPr lang="en-US" sz="1050" dirty="0" err="1">
                <a:solidFill>
                  <a:schemeClr val="accent2"/>
                </a:solidFill>
              </a:rPr>
              <a:t>celula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r>
              <a:rPr lang="en-US" sz="1050" dirty="0" err="1">
                <a:solidFill>
                  <a:schemeClr val="accent2"/>
                </a:solidFill>
              </a:rPr>
              <a:t>urbană</a:t>
            </a:r>
            <a:r>
              <a:rPr lang="en-US" sz="1050" dirty="0">
                <a:solidFill>
                  <a:schemeClr val="accent2"/>
                </a:solidFill>
              </a:rPr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 err="1">
                <a:solidFill>
                  <a:schemeClr val="accent2"/>
                </a:solidFill>
              </a:rPr>
              <a:t>Impactul</a:t>
            </a:r>
            <a:r>
              <a:rPr lang="en-US" sz="1050" dirty="0">
                <a:solidFill>
                  <a:schemeClr val="accent2"/>
                </a:solidFill>
              </a:rPr>
              <a:t>: La </a:t>
            </a:r>
            <a:r>
              <a:rPr lang="en-US" sz="1050" dirty="0" err="1">
                <a:solidFill>
                  <a:schemeClr val="accent2"/>
                </a:solidFill>
              </a:rPr>
              <a:t>efectuarea</a:t>
            </a:r>
            <a:r>
              <a:rPr lang="en-US" sz="1050" dirty="0">
                <a:solidFill>
                  <a:schemeClr val="accent2"/>
                </a:solidFill>
              </a:rPr>
              <a:t> join-</a:t>
            </a:r>
            <a:r>
              <a:rPr lang="en-US" sz="1050" dirty="0" err="1">
                <a:solidFill>
                  <a:schemeClr val="accent2"/>
                </a:solidFill>
              </a:rPr>
              <a:t>ului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r>
              <a:rPr lang="en-US" sz="1050" dirty="0" err="1">
                <a:solidFill>
                  <a:schemeClr val="accent2"/>
                </a:solidFill>
              </a:rPr>
              <a:t>spațial</a:t>
            </a:r>
            <a:r>
              <a:rPr lang="en-US" sz="1050" dirty="0">
                <a:solidFill>
                  <a:schemeClr val="accent2"/>
                </a:solidFill>
              </a:rPr>
              <a:t>, </a:t>
            </a:r>
            <a:r>
              <a:rPr lang="en-US" sz="1050" dirty="0" err="1">
                <a:solidFill>
                  <a:schemeClr val="accent2"/>
                </a:solidFill>
              </a:rPr>
              <a:t>celulele</a:t>
            </a:r>
            <a:r>
              <a:rPr lang="en-US" sz="1050" dirty="0">
                <a:solidFill>
                  <a:schemeClr val="accent2"/>
                </a:solidFill>
              </a:rPr>
              <a:t> pot </a:t>
            </a:r>
            <a:r>
              <a:rPr lang="en-US" sz="1050" dirty="0" err="1">
                <a:solidFill>
                  <a:schemeClr val="accent2"/>
                </a:solidFill>
              </a:rPr>
              <a:t>rămâne</a:t>
            </a:r>
            <a:r>
              <a:rPr lang="en-US" sz="1050" dirty="0">
                <a:solidFill>
                  <a:schemeClr val="accent2"/>
                </a:solidFill>
              </a:rPr>
              <a:t> cu </a:t>
            </a:r>
            <a:r>
              <a:rPr lang="en-US" sz="1050" dirty="0" err="1">
                <a:solidFill>
                  <a:schemeClr val="accent2"/>
                </a:solidFill>
              </a:rPr>
              <a:t>valori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r>
              <a:rPr lang="en-US" sz="1050" dirty="0" err="1">
                <a:solidFill>
                  <a:schemeClr val="accent2"/>
                </a:solidFill>
              </a:rPr>
              <a:t>lipsă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r>
              <a:rPr lang="en-US" sz="1050" dirty="0" err="1">
                <a:solidFill>
                  <a:schemeClr val="accent2"/>
                </a:solidFill>
              </a:rPr>
              <a:t>dacă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r>
              <a:rPr lang="en-US" sz="1050" dirty="0" err="1">
                <a:solidFill>
                  <a:schemeClr val="accent2"/>
                </a:solidFill>
              </a:rPr>
              <a:t>reproiectarea</a:t>
            </a:r>
            <a:r>
              <a:rPr lang="en-US" sz="1050" dirty="0">
                <a:solidFill>
                  <a:schemeClr val="accent2"/>
                </a:solidFill>
              </a:rPr>
              <a:t> nu </a:t>
            </a:r>
            <a:r>
              <a:rPr lang="en-US" sz="1050" dirty="0" err="1">
                <a:solidFill>
                  <a:schemeClr val="accent2"/>
                </a:solidFill>
              </a:rPr>
              <a:t>este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r>
              <a:rPr lang="en-US" sz="1050" dirty="0" err="1">
                <a:solidFill>
                  <a:schemeClr val="accent2"/>
                </a:solidFill>
              </a:rPr>
              <a:t>perfectă</a:t>
            </a:r>
            <a:r>
              <a:rPr lang="en-US" sz="1050" dirty="0">
                <a:solidFill>
                  <a:schemeClr val="accent2"/>
                </a:solidFill>
              </a:rPr>
              <a:t>, </a:t>
            </a:r>
            <a:r>
              <a:rPr lang="en-US" sz="1050" dirty="0" err="1">
                <a:solidFill>
                  <a:schemeClr val="accent2"/>
                </a:solidFill>
              </a:rPr>
              <a:t>scăzând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r>
              <a:rPr lang="en-US" sz="1050" dirty="0" err="1">
                <a:solidFill>
                  <a:schemeClr val="accent2"/>
                </a:solidFill>
              </a:rPr>
              <a:t>numărul</a:t>
            </a:r>
            <a:r>
              <a:rPr lang="en-US" sz="1050" dirty="0">
                <a:solidFill>
                  <a:schemeClr val="accent2"/>
                </a:solidFill>
              </a:rPr>
              <a:t> de </a:t>
            </a:r>
            <a:r>
              <a:rPr lang="en-US" sz="1050" dirty="0" err="1">
                <a:solidFill>
                  <a:schemeClr val="accent2"/>
                </a:solidFill>
              </a:rPr>
              <a:t>unități</a:t>
            </a:r>
            <a:r>
              <a:rPr lang="en-US" sz="1050" dirty="0">
                <a:solidFill>
                  <a:schemeClr val="accent2"/>
                </a:solidFill>
              </a:rPr>
              <a:t> care </a:t>
            </a:r>
            <a:r>
              <a:rPr lang="en-US" sz="1050" dirty="0" err="1">
                <a:solidFill>
                  <a:schemeClr val="accent2"/>
                </a:solidFill>
              </a:rPr>
              <a:t>supraviețuiesc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r>
              <a:rPr lang="en-US" sz="1050" dirty="0" err="1">
                <a:solidFill>
                  <a:schemeClr val="accent2"/>
                </a:solidFill>
              </a:rPr>
              <a:t>alinierii</a:t>
            </a:r>
            <a:r>
              <a:rPr lang="en-US" sz="1050" dirty="0">
                <a:solidFill>
                  <a:schemeClr val="accent2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dirty="0">
              <a:solidFill>
                <a:schemeClr val="accent2"/>
              </a:solidFill>
            </a:endParaRPr>
          </a:p>
          <a:p>
            <a:r>
              <a:rPr lang="en-US" sz="1100" b="1" dirty="0"/>
              <a:t>2. </a:t>
            </a:r>
            <a:r>
              <a:rPr lang="en-US" sz="1100" b="1" dirty="0" err="1"/>
              <a:t>Alinierea</a:t>
            </a:r>
            <a:r>
              <a:rPr lang="en-US" sz="1100" b="1" dirty="0"/>
              <a:t> </a:t>
            </a:r>
            <a:r>
              <a:rPr lang="en-US" sz="1100" b="1" dirty="0" err="1"/>
              <a:t>temporală</a:t>
            </a:r>
            <a:r>
              <a:rPr lang="en-US" sz="1100" b="1" dirty="0"/>
              <a:t> </a:t>
            </a:r>
            <a:r>
              <a:rPr lang="en-US" sz="1100" b="1" dirty="0" err="1"/>
              <a:t>și</a:t>
            </a:r>
            <a:r>
              <a:rPr lang="en-US" sz="1100" b="1" dirty="0"/>
              <a:t> </a:t>
            </a:r>
            <a:r>
              <a:rPr lang="en-US" sz="1100" b="1" dirty="0" err="1"/>
              <a:t>golurile</a:t>
            </a:r>
            <a:r>
              <a:rPr lang="en-US" sz="1100" b="1" dirty="0"/>
              <a:t> de date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 err="1"/>
              <a:t>Cauza</a:t>
            </a:r>
            <a:r>
              <a:rPr lang="en-US" sz="1100" b="1" dirty="0"/>
              <a:t>:</a:t>
            </a:r>
            <a:r>
              <a:rPr lang="en-US" sz="1100" dirty="0"/>
              <a:t> </a:t>
            </a:r>
            <a:r>
              <a:rPr lang="en-US" sz="1100" dirty="0" err="1"/>
              <a:t>Datele</a:t>
            </a:r>
            <a:r>
              <a:rPr lang="en-US" sz="1100" dirty="0"/>
              <a:t> </a:t>
            </a:r>
            <a:r>
              <a:rPr lang="en-US" sz="1100" dirty="0" err="1"/>
              <a:t>satelitare</a:t>
            </a:r>
            <a:r>
              <a:rPr lang="en-US" sz="1100" dirty="0"/>
              <a:t> (LST, NDVI) sunt </a:t>
            </a:r>
            <a:r>
              <a:rPr lang="en-US" sz="1100" dirty="0" err="1"/>
              <a:t>influențate</a:t>
            </a:r>
            <a:r>
              <a:rPr lang="en-US" sz="1100" dirty="0"/>
              <a:t> de nori, </a:t>
            </a:r>
            <a:r>
              <a:rPr lang="en-US" sz="1100" dirty="0" err="1"/>
              <a:t>în</a:t>
            </a:r>
            <a:r>
              <a:rPr lang="en-US" sz="1100" dirty="0"/>
              <a:t> </a:t>
            </a:r>
            <a:r>
              <a:rPr lang="en-US" sz="1100" dirty="0" err="1"/>
              <a:t>timp</a:t>
            </a:r>
            <a:r>
              <a:rPr lang="en-US" sz="1100" dirty="0"/>
              <a:t> </a:t>
            </a:r>
            <a:r>
              <a:rPr lang="en-US" sz="1100" dirty="0" err="1"/>
              <a:t>ce</a:t>
            </a:r>
            <a:r>
              <a:rPr lang="en-US" sz="1100" dirty="0"/>
              <a:t> </a:t>
            </a:r>
            <a:r>
              <a:rPr lang="en-US" sz="1100" dirty="0" err="1"/>
              <a:t>datele</a:t>
            </a:r>
            <a:r>
              <a:rPr lang="en-US" sz="1100" dirty="0"/>
              <a:t> de </a:t>
            </a:r>
            <a:r>
              <a:rPr lang="en-US" sz="1100" dirty="0" err="1"/>
              <a:t>formă</a:t>
            </a:r>
            <a:r>
              <a:rPr lang="en-US" sz="1100" dirty="0"/>
              <a:t> </a:t>
            </a:r>
            <a:r>
              <a:rPr lang="en-US" sz="1100" dirty="0" err="1"/>
              <a:t>urbană</a:t>
            </a:r>
            <a:r>
              <a:rPr lang="en-US" sz="1100" dirty="0"/>
              <a:t> sunt statice.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 err="1"/>
              <a:t>Impactul</a:t>
            </a:r>
            <a:r>
              <a:rPr lang="en-US" sz="1100" b="1" dirty="0"/>
              <a:t>:</a:t>
            </a:r>
            <a:r>
              <a:rPr lang="en-US" sz="1100" dirty="0"/>
              <a:t> </a:t>
            </a:r>
            <a:r>
              <a:rPr lang="en-US" sz="1100" dirty="0" err="1"/>
              <a:t>Lipsa</a:t>
            </a:r>
            <a:r>
              <a:rPr lang="en-US" sz="1100" dirty="0"/>
              <a:t> </a:t>
            </a:r>
            <a:r>
              <a:rPr lang="en-US" sz="1100" dirty="0" err="1"/>
              <a:t>datelor</a:t>
            </a:r>
            <a:r>
              <a:rPr lang="en-US" sz="1100" dirty="0"/>
              <a:t> </a:t>
            </a:r>
            <a:r>
              <a:rPr lang="en-US" sz="1100" dirty="0" err="1"/>
              <a:t>satelitare</a:t>
            </a:r>
            <a:r>
              <a:rPr lang="en-US" sz="1100" dirty="0"/>
              <a:t> (ex. din </a:t>
            </a:r>
            <a:r>
              <a:rPr lang="en-US" sz="1100" dirty="0" err="1"/>
              <a:t>cauza</a:t>
            </a:r>
            <a:r>
              <a:rPr lang="en-US" sz="1100" dirty="0"/>
              <a:t> </a:t>
            </a:r>
            <a:r>
              <a:rPr lang="en-US" sz="1100" dirty="0" err="1"/>
              <a:t>norilor</a:t>
            </a:r>
            <a:r>
              <a:rPr lang="en-US" sz="1100" dirty="0"/>
              <a:t>) </a:t>
            </a:r>
            <a:r>
              <a:rPr lang="en-US" sz="1100" dirty="0" err="1"/>
              <a:t>creează</a:t>
            </a:r>
            <a:r>
              <a:rPr lang="en-US" sz="1100" dirty="0"/>
              <a:t> </a:t>
            </a:r>
            <a:r>
              <a:rPr lang="en-US" sz="1100" dirty="0" err="1"/>
              <a:t>goluri</a:t>
            </a:r>
            <a:r>
              <a:rPr lang="en-US" sz="1100" dirty="0"/>
              <a:t> </a:t>
            </a:r>
            <a:r>
              <a:rPr lang="en-US" sz="1100" dirty="0" err="1"/>
              <a:t>în</a:t>
            </a:r>
            <a:r>
              <a:rPr lang="en-US" sz="1100" dirty="0"/>
              <a:t> </a:t>
            </a:r>
            <a:r>
              <a:rPr lang="en-US" sz="1100" dirty="0" err="1"/>
              <a:t>tabel</a:t>
            </a:r>
            <a:r>
              <a:rPr lang="en-US" sz="1100" dirty="0"/>
              <a:t>. </a:t>
            </a:r>
            <a:r>
              <a:rPr lang="en-US" sz="1100" dirty="0" err="1"/>
              <a:t>Completarea</a:t>
            </a:r>
            <a:r>
              <a:rPr lang="en-US" sz="1100" dirty="0"/>
              <a:t> lor </a:t>
            </a:r>
            <a:r>
              <a:rPr lang="en-US" sz="1100" dirty="0" err="1"/>
              <a:t>matematică</a:t>
            </a:r>
            <a:r>
              <a:rPr lang="en-US" sz="1100" dirty="0"/>
              <a:t> (</a:t>
            </a:r>
            <a:r>
              <a:rPr lang="en-US" sz="1100" dirty="0" err="1"/>
              <a:t>imputarea</a:t>
            </a:r>
            <a:r>
              <a:rPr lang="en-US" sz="1100" dirty="0"/>
              <a:t>) </a:t>
            </a:r>
            <a:r>
              <a:rPr lang="en-US" sz="1100" dirty="0" err="1"/>
              <a:t>trebuie</a:t>
            </a:r>
            <a:r>
              <a:rPr lang="en-US" sz="1100" dirty="0"/>
              <a:t> </a:t>
            </a:r>
            <a:r>
              <a:rPr lang="en-US" sz="1100" dirty="0" err="1"/>
              <a:t>făcută</a:t>
            </a:r>
            <a:r>
              <a:rPr lang="en-US" sz="1100" dirty="0"/>
              <a:t> </a:t>
            </a:r>
            <a:r>
              <a:rPr lang="en-US" sz="1100" dirty="0" err="1"/>
              <a:t>corect</a:t>
            </a:r>
            <a:r>
              <a:rPr lang="en-US" sz="1100" dirty="0"/>
              <a:t>, </a:t>
            </a:r>
            <a:r>
              <a:rPr lang="en-US" sz="1100" dirty="0" err="1"/>
              <a:t>altfel</a:t>
            </a:r>
            <a:r>
              <a:rPr lang="en-US" sz="1100" dirty="0"/>
              <a:t> </a:t>
            </a:r>
            <a:r>
              <a:rPr lang="en-US" sz="1100" dirty="0" err="1"/>
              <a:t>riscăm</a:t>
            </a:r>
            <a:r>
              <a:rPr lang="en-US" sz="1100" dirty="0"/>
              <a:t> </a:t>
            </a:r>
            <a:r>
              <a:rPr lang="en-US" sz="1100" dirty="0" err="1"/>
              <a:t>să</a:t>
            </a:r>
            <a:r>
              <a:rPr lang="en-US" sz="1100" dirty="0"/>
              <a:t> </a:t>
            </a:r>
            <a:r>
              <a:rPr lang="en-US" sz="1100" dirty="0" err="1"/>
              <a:t>introducem</a:t>
            </a:r>
            <a:r>
              <a:rPr lang="en-US" sz="1100" dirty="0"/>
              <a:t> </a:t>
            </a:r>
            <a:r>
              <a:rPr lang="en-US" sz="1100" dirty="0" err="1"/>
              <a:t>erori</a:t>
            </a:r>
            <a:r>
              <a:rPr lang="en-US" sz="1100" dirty="0"/>
              <a:t> care </a:t>
            </a:r>
            <a:r>
              <a:rPr lang="en-US" sz="1100" dirty="0" err="1"/>
              <a:t>vor</a:t>
            </a:r>
            <a:r>
              <a:rPr lang="en-US" sz="1100" dirty="0"/>
              <a:t> </a:t>
            </a:r>
            <a:r>
              <a:rPr lang="en-US" sz="1100" dirty="0" err="1"/>
              <a:t>compromite</a:t>
            </a:r>
            <a:r>
              <a:rPr lang="en-US" sz="1100" dirty="0"/>
              <a:t> </a:t>
            </a:r>
            <a:r>
              <a:rPr lang="en-US" sz="1100" dirty="0" err="1"/>
              <a:t>tabelul</a:t>
            </a:r>
            <a:r>
              <a:rPr lang="en-US" sz="1100" dirty="0"/>
              <a:t> </a:t>
            </a:r>
            <a:r>
              <a:rPr lang="en-US" sz="1100" dirty="0" err="1"/>
              <a:t>aliniat</a:t>
            </a:r>
            <a:r>
              <a:rPr lang="en-US" sz="1100" dirty="0"/>
              <a:t>. </a:t>
            </a:r>
          </a:p>
        </p:txBody>
      </p:sp>
      <p:sp>
        <p:nvSpPr>
          <p:cNvPr id="5" name="Shape 3"/>
          <p:cNvSpPr/>
          <p:nvPr/>
        </p:nvSpPr>
        <p:spPr>
          <a:xfrm>
            <a:off x="4663440" y="1554480"/>
            <a:ext cx="3931920" cy="246888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 txBox="1"/>
          <p:nvPr/>
        </p:nvSpPr>
        <p:spPr>
          <a:xfrm>
            <a:off x="4846320" y="1691640"/>
            <a:ext cx="3566160" cy="2042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C8702A"/>
                </a:solidFill>
              </a:rPr>
              <a:t>Planul pe 2 săptămâni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 err="1">
                <a:solidFill>
                  <a:srgbClr val="C9D1DC"/>
                </a:solidFill>
              </a:rPr>
              <a:t>Săptămâna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ro-RO" sz="1050" dirty="0">
                <a:solidFill>
                  <a:srgbClr val="C9D1DC"/>
                </a:solidFill>
              </a:rPr>
              <a:t>4</a:t>
            </a:r>
            <a:r>
              <a:rPr lang="en-US" sz="1050" dirty="0">
                <a:solidFill>
                  <a:srgbClr val="C9D1DC"/>
                </a:solidFill>
              </a:rPr>
              <a:t>: Data card per </a:t>
            </a:r>
            <a:r>
              <a:rPr lang="en-US" sz="1050" dirty="0" err="1">
                <a:solidFill>
                  <a:srgbClr val="C9D1DC"/>
                </a:solidFill>
              </a:rPr>
              <a:t>sursă</a:t>
            </a:r>
            <a:r>
              <a:rPr lang="en-US" sz="1050" dirty="0">
                <a:solidFill>
                  <a:srgbClr val="C9D1DC"/>
                </a:solidFill>
              </a:rPr>
              <a:t> + </a:t>
            </a:r>
            <a:r>
              <a:rPr lang="en-US" sz="1050" dirty="0" err="1">
                <a:solidFill>
                  <a:srgbClr val="C9D1DC"/>
                </a:solidFill>
              </a:rPr>
              <a:t>tabelul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en-US" sz="1050" dirty="0" err="1">
                <a:solidFill>
                  <a:srgbClr val="C9D1DC"/>
                </a:solidFill>
              </a:rPr>
              <a:t>aliniat</a:t>
            </a:r>
            <a:r>
              <a:rPr lang="en-US" sz="1050" dirty="0">
                <a:solidFill>
                  <a:srgbClr val="C9D1DC"/>
                </a:solidFill>
              </a:rPr>
              <a:t> (o </a:t>
            </a:r>
            <a:r>
              <a:rPr lang="en-US" sz="1050" dirty="0" err="1">
                <a:solidFill>
                  <a:srgbClr val="C9D1DC"/>
                </a:solidFill>
              </a:rPr>
              <a:t>linie</a:t>
            </a:r>
            <a:r>
              <a:rPr lang="en-US" sz="1050" dirty="0">
                <a:solidFill>
                  <a:srgbClr val="C9D1DC"/>
                </a:solidFill>
              </a:rPr>
              <a:t> = o </a:t>
            </a:r>
            <a:r>
              <a:rPr lang="en-US" sz="1050" dirty="0" err="1">
                <a:solidFill>
                  <a:srgbClr val="C9D1DC"/>
                </a:solidFill>
              </a:rPr>
              <a:t>unitate</a:t>
            </a:r>
            <a:r>
              <a:rPr lang="en-US" sz="1050" dirty="0">
                <a:solidFill>
                  <a:srgbClr val="C9D1DC"/>
                </a:solidFill>
              </a:rPr>
              <a:t> × </a:t>
            </a:r>
            <a:r>
              <a:rPr lang="en-US" sz="1050" dirty="0" err="1">
                <a:solidFill>
                  <a:srgbClr val="C9D1DC"/>
                </a:solidFill>
              </a:rPr>
              <a:t>timp</a:t>
            </a:r>
            <a:r>
              <a:rPr lang="en-US" sz="1050" dirty="0">
                <a:solidFill>
                  <a:srgbClr val="C9D1DC"/>
                </a:solidFill>
              </a:rPr>
              <a:t>) + </a:t>
            </a:r>
            <a:r>
              <a:rPr lang="en-US" sz="1050" dirty="0" err="1">
                <a:solidFill>
                  <a:srgbClr val="C9D1DC"/>
                </a:solidFill>
              </a:rPr>
              <a:t>raport</a:t>
            </a:r>
            <a:r>
              <a:rPr lang="en-US" sz="1050" dirty="0">
                <a:solidFill>
                  <a:srgbClr val="C9D1DC"/>
                </a:solidFill>
              </a:rPr>
              <a:t> de </a:t>
            </a:r>
            <a:r>
              <a:rPr lang="en-US" sz="1050" dirty="0" err="1">
                <a:solidFill>
                  <a:srgbClr val="C9D1DC"/>
                </a:solidFill>
              </a:rPr>
              <a:t>acoperire</a:t>
            </a:r>
            <a:r>
              <a:rPr lang="en-US" sz="1050" dirty="0">
                <a:solidFill>
                  <a:srgbClr val="C9D1DC"/>
                </a:solidFill>
              </a:rPr>
              <a:t> (</a:t>
            </a:r>
            <a:r>
              <a:rPr lang="en-US" sz="1050" dirty="0" err="1">
                <a:solidFill>
                  <a:srgbClr val="C9D1DC"/>
                </a:solidFill>
              </a:rPr>
              <a:t>câte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en-US" sz="1050" dirty="0" err="1">
                <a:solidFill>
                  <a:srgbClr val="C9D1DC"/>
                </a:solidFill>
              </a:rPr>
              <a:t>unități</a:t>
            </a:r>
            <a:r>
              <a:rPr lang="en-US" sz="1050" dirty="0">
                <a:solidFill>
                  <a:srgbClr val="C9D1DC"/>
                </a:solidFill>
              </a:rPr>
              <a:t>/</a:t>
            </a:r>
            <a:r>
              <a:rPr lang="en-US" sz="1050" dirty="0" err="1">
                <a:solidFill>
                  <a:srgbClr val="C9D1DC"/>
                </a:solidFill>
              </a:rPr>
              <a:t>perioade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en-US" sz="1050" dirty="0" err="1">
                <a:solidFill>
                  <a:srgbClr val="C9D1DC"/>
                </a:solidFill>
              </a:rPr>
              <a:t>supraviețuiesc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en-US" sz="1050" dirty="0" err="1">
                <a:solidFill>
                  <a:srgbClr val="C9D1DC"/>
                </a:solidFill>
              </a:rPr>
              <a:t>alinierii</a:t>
            </a:r>
            <a:r>
              <a:rPr lang="en-US" sz="1050" dirty="0">
                <a:solidFill>
                  <a:srgbClr val="C9D1DC"/>
                </a:solidFill>
              </a:rPr>
              <a:t>) + </a:t>
            </a:r>
            <a:r>
              <a:rPr lang="en-US" sz="1050" dirty="0" err="1">
                <a:solidFill>
                  <a:srgbClr val="C9D1DC"/>
                </a:solidFill>
              </a:rPr>
              <a:t>tabel</a:t>
            </a:r>
            <a:r>
              <a:rPr lang="en-US" sz="1050" dirty="0">
                <a:solidFill>
                  <a:srgbClr val="C9D1DC"/>
                </a:solidFill>
              </a:rPr>
              <a:t> SOA (10 </a:t>
            </a:r>
            <a:r>
              <a:rPr lang="en-US" sz="1050" dirty="0" err="1">
                <a:solidFill>
                  <a:srgbClr val="C9D1DC"/>
                </a:solidFill>
              </a:rPr>
              <a:t>articole</a:t>
            </a:r>
            <a:r>
              <a:rPr lang="en-US" sz="1050" dirty="0">
                <a:solidFill>
                  <a:srgbClr val="C9D1DC"/>
                </a:solidFill>
              </a:rPr>
              <a:t>) </a:t>
            </a:r>
            <a:endParaRPr lang="ro-RO" sz="1050" dirty="0">
              <a:solidFill>
                <a:srgbClr val="C9D1DC"/>
              </a:solidFill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9D1DC"/>
                </a:solidFill>
              </a:rPr>
              <a:t>La CP</a:t>
            </a:r>
            <a:r>
              <a:rPr lang="ro-RO" sz="1050" dirty="0">
                <a:solidFill>
                  <a:srgbClr val="C9D1DC"/>
                </a:solidFill>
              </a:rPr>
              <a:t>1 </a:t>
            </a:r>
            <a:r>
              <a:rPr lang="en-US" sz="1050" dirty="0" err="1">
                <a:solidFill>
                  <a:srgbClr val="C9D1DC"/>
                </a:solidFill>
              </a:rPr>
              <a:t>arăt</a:t>
            </a:r>
            <a:r>
              <a:rPr lang="en-US" sz="1050" dirty="0">
                <a:solidFill>
                  <a:srgbClr val="C9D1DC"/>
                </a:solidFill>
              </a:rPr>
              <a:t>: </a:t>
            </a:r>
            <a:r>
              <a:rPr lang="it-IT" sz="1050" dirty="0">
                <a:solidFill>
                  <a:srgbClr val="C9D1DC"/>
                </a:solidFill>
              </a:rPr>
              <a:t> data card + tabelul aliniat + acoperirea</a:t>
            </a:r>
            <a:endParaRPr lang="ro-RO" sz="1050" dirty="0">
              <a:solidFill>
                <a:srgbClr val="C9D1DC"/>
              </a:solidFill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 err="1">
                <a:solidFill>
                  <a:srgbClr val="C9D1DC"/>
                </a:solidFill>
              </a:rPr>
              <a:t>Comparația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en-US" sz="1050" dirty="0" err="1">
                <a:solidFill>
                  <a:srgbClr val="C9D1DC"/>
                </a:solidFill>
              </a:rPr>
              <a:t>obligatorie</a:t>
            </a:r>
            <a:r>
              <a:rPr lang="en-US" sz="1050" dirty="0">
                <a:solidFill>
                  <a:srgbClr val="C9D1DC"/>
                </a:solidFill>
              </a:rPr>
              <a:t> pe care o </a:t>
            </a:r>
            <a:r>
              <a:rPr lang="en-US" sz="1050" dirty="0" err="1">
                <a:solidFill>
                  <a:srgbClr val="C9D1DC"/>
                </a:solidFill>
              </a:rPr>
              <a:t>pregătesc</a:t>
            </a:r>
            <a:r>
              <a:rPr lang="en-US" sz="1050" dirty="0">
                <a:solidFill>
                  <a:srgbClr val="C9D1DC"/>
                </a:solidFill>
              </a:rPr>
              <a:t>: </a:t>
            </a:r>
            <a:r>
              <a:rPr lang="en-US" sz="1050" dirty="0" err="1">
                <a:solidFill>
                  <a:srgbClr val="C9D1DC"/>
                </a:solidFill>
              </a:rPr>
              <a:t>Aliniere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en-US" sz="1050" dirty="0" err="1">
                <a:solidFill>
                  <a:srgbClr val="C9D1DC"/>
                </a:solidFill>
              </a:rPr>
              <a:t>spațială</a:t>
            </a:r>
            <a:r>
              <a:rPr lang="en-US" sz="1050" dirty="0">
                <a:solidFill>
                  <a:srgbClr val="C9D1DC"/>
                </a:solidFill>
              </a:rPr>
              <a:t> (</a:t>
            </a:r>
            <a:r>
              <a:rPr lang="en-US" sz="1050" dirty="0" err="1">
                <a:solidFill>
                  <a:srgbClr val="C9D1DC"/>
                </a:solidFill>
              </a:rPr>
              <a:t>reproiectare</a:t>
            </a:r>
            <a:r>
              <a:rPr lang="en-US" sz="1050" dirty="0">
                <a:solidFill>
                  <a:srgbClr val="C9D1DC"/>
                </a:solidFill>
              </a:rPr>
              <a:t>, grid </a:t>
            </a:r>
            <a:r>
              <a:rPr lang="en-US" sz="1050" dirty="0" err="1">
                <a:solidFill>
                  <a:srgbClr val="C9D1DC"/>
                </a:solidFill>
              </a:rPr>
              <a:t>comun</a:t>
            </a:r>
            <a:r>
              <a:rPr lang="en-US" sz="1050" dirty="0">
                <a:solidFill>
                  <a:srgbClr val="C9D1DC"/>
                </a:solidFill>
              </a:rPr>
              <a:t>, zone tampon, join </a:t>
            </a:r>
            <a:r>
              <a:rPr lang="en-US" sz="1050" dirty="0" err="1">
                <a:solidFill>
                  <a:srgbClr val="C9D1DC"/>
                </a:solidFill>
              </a:rPr>
              <a:t>spațial</a:t>
            </a:r>
            <a:r>
              <a:rPr lang="en-US" sz="1050" dirty="0">
                <a:solidFill>
                  <a:srgbClr val="C9D1DC"/>
                </a:solidFill>
              </a:rPr>
              <a:t>), </a:t>
            </a:r>
            <a:r>
              <a:rPr lang="en-US" sz="1050" dirty="0" err="1">
                <a:solidFill>
                  <a:srgbClr val="C9D1DC"/>
                </a:solidFill>
              </a:rPr>
              <a:t>temporală</a:t>
            </a:r>
            <a:r>
              <a:rPr lang="en-US" sz="1050" dirty="0">
                <a:solidFill>
                  <a:srgbClr val="C9D1DC"/>
                </a:solidFill>
              </a:rPr>
              <a:t> (</a:t>
            </a:r>
            <a:r>
              <a:rPr lang="en-US" sz="1050" dirty="0" err="1">
                <a:solidFill>
                  <a:srgbClr val="C9D1DC"/>
                </a:solidFill>
              </a:rPr>
              <a:t>reeșantionare</a:t>
            </a:r>
            <a:r>
              <a:rPr lang="en-US" sz="1050" dirty="0">
                <a:solidFill>
                  <a:srgbClr val="C9D1DC"/>
                </a:solidFill>
              </a:rPr>
              <a:t> , </a:t>
            </a:r>
            <a:r>
              <a:rPr lang="en-US" sz="1050" dirty="0" err="1">
                <a:solidFill>
                  <a:srgbClr val="C9D1DC"/>
                </a:solidFill>
              </a:rPr>
              <a:t>agregare</a:t>
            </a:r>
            <a:r>
              <a:rPr lang="en-US" sz="1050" dirty="0">
                <a:solidFill>
                  <a:srgbClr val="C9D1DC"/>
                </a:solidFill>
              </a:rPr>
              <a:t>, lag - </a:t>
            </a:r>
            <a:r>
              <a:rPr lang="en-US" sz="1050" dirty="0" err="1">
                <a:solidFill>
                  <a:srgbClr val="C9D1DC"/>
                </a:solidFill>
              </a:rPr>
              <a:t>uri</a:t>
            </a:r>
            <a:r>
              <a:rPr lang="en-US" sz="1050" dirty="0">
                <a:solidFill>
                  <a:srgbClr val="C9D1DC"/>
                </a:solidFill>
              </a:rPr>
              <a:t>, </a:t>
            </a:r>
            <a:r>
              <a:rPr lang="en-US" sz="1050" dirty="0" err="1">
                <a:solidFill>
                  <a:srgbClr val="C9D1DC"/>
                </a:solidFill>
              </a:rPr>
              <a:t>ferestre</a:t>
            </a:r>
            <a:r>
              <a:rPr lang="en-US" sz="1050" dirty="0">
                <a:solidFill>
                  <a:srgbClr val="C9D1DC"/>
                </a:solidFill>
              </a:rPr>
              <a:t>), </a:t>
            </a:r>
            <a:r>
              <a:rPr lang="en-US" sz="1050" dirty="0" err="1">
                <a:solidFill>
                  <a:srgbClr val="C9D1DC"/>
                </a:solidFill>
              </a:rPr>
              <a:t>semantică</a:t>
            </a:r>
            <a:r>
              <a:rPr lang="en-US" sz="1050" dirty="0">
                <a:solidFill>
                  <a:srgbClr val="C9D1DC"/>
                </a:solidFill>
              </a:rPr>
              <a:t> (</a:t>
            </a:r>
            <a:r>
              <a:rPr lang="en-US" sz="1050" dirty="0" err="1">
                <a:solidFill>
                  <a:srgbClr val="C9D1DC"/>
                </a:solidFill>
              </a:rPr>
              <a:t>unități</a:t>
            </a:r>
            <a:r>
              <a:rPr lang="en-US" sz="1050" dirty="0">
                <a:solidFill>
                  <a:srgbClr val="C9D1DC"/>
                </a:solidFill>
              </a:rPr>
              <a:t>, </a:t>
            </a:r>
            <a:r>
              <a:rPr lang="en-US" sz="1050" dirty="0" err="1">
                <a:solidFill>
                  <a:srgbClr val="C9D1DC"/>
                </a:solidFill>
              </a:rPr>
              <a:t>chei</a:t>
            </a:r>
            <a:r>
              <a:rPr lang="en-US" sz="1050" dirty="0">
                <a:solidFill>
                  <a:srgbClr val="C9D1DC"/>
                </a:solidFill>
              </a:rPr>
              <a:t>, </a:t>
            </a:r>
            <a:r>
              <a:rPr lang="en-US" sz="1050" dirty="0" err="1">
                <a:solidFill>
                  <a:srgbClr val="C9D1DC"/>
                </a:solidFill>
              </a:rPr>
              <a:t>etichete</a:t>
            </a:r>
            <a:r>
              <a:rPr lang="en-US" sz="1050" dirty="0">
                <a:solidFill>
                  <a:srgbClr val="C9D1DC"/>
                </a:solidFill>
              </a:rPr>
              <a:t>); </a:t>
            </a:r>
            <a:r>
              <a:rPr lang="en-US" sz="1050" dirty="0" err="1">
                <a:solidFill>
                  <a:srgbClr val="C9D1DC"/>
                </a:solidFill>
              </a:rPr>
              <a:t>goluri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en-US" sz="1050" dirty="0" err="1">
                <a:solidFill>
                  <a:srgbClr val="C9D1DC"/>
                </a:solidFill>
              </a:rPr>
              <a:t>și</a:t>
            </a:r>
            <a:r>
              <a:rPr lang="en-US" sz="1050" dirty="0">
                <a:solidFill>
                  <a:srgbClr val="C9D1DC"/>
                </a:solidFill>
              </a:rPr>
              <a:t> </a:t>
            </a:r>
            <a:r>
              <a:rPr lang="en-US" sz="1050" dirty="0" err="1">
                <a:solidFill>
                  <a:srgbClr val="C9D1DC"/>
                </a:solidFill>
              </a:rPr>
              <a:t>imputare</a:t>
            </a:r>
            <a:r>
              <a:rPr lang="en-US" sz="1050" dirty="0">
                <a:solidFill>
                  <a:srgbClr val="C9D1DC"/>
                </a:solidFill>
              </a:rPr>
              <a:t>; leakage; data card</a:t>
            </a:r>
            <a:endParaRPr lang="en-US" sz="110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C9D1DC"/>
                </a:solidFill>
              </a:rPr>
              <a:t>Secțiunea</a:t>
            </a:r>
            <a:r>
              <a:rPr lang="en-US" sz="1050" dirty="0">
                <a:solidFill>
                  <a:srgbClr val="C9D1DC"/>
                </a:solidFill>
              </a:rPr>
              <a:t> de articol pe care o scriu: </a:t>
            </a:r>
            <a:r>
              <a:rPr lang="ro-RO" sz="1050" dirty="0">
                <a:solidFill>
                  <a:srgbClr val="C9D1DC"/>
                </a:solidFill>
              </a:rPr>
              <a:t>Data, </a:t>
            </a:r>
            <a:r>
              <a:rPr lang="en-US" sz="1050" dirty="0">
                <a:solidFill>
                  <a:srgbClr val="C9D1DC"/>
                </a:solidFill>
              </a:rPr>
              <a:t>Related Work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4"/>
                </a:solidFill>
              </a:rPr>
              <a:t>Slide 3 din 3 · Întrebarea pentru profesor / grup, dacă există: [_</a:t>
            </a:r>
            <a:r>
              <a:rPr lang="ro-RO" sz="900" dirty="0">
                <a:solidFill>
                  <a:srgbClr val="6B7684"/>
                </a:solidFill>
              </a:rPr>
              <a:t>x</a:t>
            </a:r>
            <a:r>
              <a:rPr lang="en-US" sz="900" dirty="0">
                <a:solidFill>
                  <a:srgbClr val="6B7684"/>
                </a:solidFill>
              </a:rPr>
              <a:t>_]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E GeoSense">
  <a:themeElements>
    <a:clrScheme name="MEDE GeoSense">
      <a:dk1>
        <a:srgbClr val="1B2A41"/>
      </a:dk1>
      <a:lt1>
        <a:srgbClr val="F4F0E8"/>
      </a:lt1>
      <a:dk2>
        <a:srgbClr val="4A5563"/>
      </a:dk2>
      <a:lt2>
        <a:srgbClr val="E9E3D6"/>
      </a:lt2>
      <a:accent1>
        <a:srgbClr val="C8702A"/>
      </a:accent1>
      <a:accent2>
        <a:srgbClr val="1B2A41"/>
      </a:accent2>
      <a:accent3>
        <a:srgbClr val="8A96A3"/>
      </a:accent3>
      <a:accent4>
        <a:srgbClr val="D9D2C3"/>
      </a:accent4>
      <a:accent5>
        <a:srgbClr val="F4F0E8"/>
      </a:accent5>
      <a:accent6>
        <a:srgbClr val="E9E3D6"/>
      </a:accent6>
      <a:hlink>
        <a:srgbClr val="C8702A"/>
      </a:hlink>
      <a:folHlink>
        <a:srgbClr val="8A96A3"/>
      </a:folHlink>
    </a:clrScheme>
    <a:fontScheme name="MEDE GeoS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707</Words>
  <Application>Microsoft Office PowerPoint</Application>
  <PresentationFormat>On-screen Show (16:9)</PresentationFormat>
  <Paragraphs>48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Cambria</vt:lpstr>
      <vt:lpstr>Inter</vt:lpstr>
      <vt:lpstr>MEDE GeoSense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MEDE — Șablon checkpoint</dc:title>
  <dc:subject>PptxGenJS Presentation</dc:subject>
  <dc:creator>GeoSense Lab, ETTI–UNSTPB</dc:creator>
  <cp:lastModifiedBy>Andreea Violeta Dinu</cp:lastModifiedBy>
  <cp:revision>27</cp:revision>
  <dcterms:created xsi:type="dcterms:W3CDTF">2026-10-07T14:41:20Z</dcterms:created>
  <dcterms:modified xsi:type="dcterms:W3CDTF">2026-10-13T14:46:36Z</dcterms:modified>
</cp:coreProperties>
</file>