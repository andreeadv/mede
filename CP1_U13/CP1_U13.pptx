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>
        <p:scale>
          <a:sx n="150" d="100"/>
          <a:sy n="150" d="100"/>
        </p:scale>
        <p:origin x="2040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dreeadv/MEDE/tree/main/CP1_U1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1325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MEDE · CP</a:t>
            </a:r>
            <a:r>
              <a:rPr lang="ro-RO" sz="900" kern="0" spc="200" dirty="0">
                <a:solidFill>
                  <a:srgbClr val="C8702A"/>
                </a:solidFill>
              </a:rPr>
              <a:t>1</a:t>
            </a:r>
            <a:r>
              <a:rPr lang="en-US" sz="900" kern="0" spc="200" dirty="0">
                <a:solidFill>
                  <a:srgbClr val="C8702A"/>
                </a:solidFill>
              </a:rPr>
              <a:t> · </a:t>
            </a:r>
            <a:r>
              <a:rPr lang="ro-RO" sz="900" kern="0" spc="200" dirty="0">
                <a:solidFill>
                  <a:srgbClr val="C8702A"/>
                </a:solidFill>
              </a:rPr>
              <a:t>ALINIERE</a:t>
            </a:r>
            <a:r>
              <a:rPr lang="en-US" sz="900" kern="0" spc="200" dirty="0">
                <a:solidFill>
                  <a:srgbClr val="C8702A"/>
                </a:solidFill>
              </a:rPr>
              <a:t> · SĂPTĂMÂNA </a:t>
            </a:r>
            <a:r>
              <a:rPr lang="ro-RO" sz="900" kern="0" spc="200" dirty="0">
                <a:solidFill>
                  <a:srgbClr val="C8702A"/>
                </a:solidFill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Dinu Andreea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U</a:t>
            </a: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</a:t>
            </a:r>
            <a:r>
              <a:rPr lang="en-US" sz="2400" dirty="0"/>
              <a:t>Insula de </a:t>
            </a:r>
            <a:r>
              <a:rPr lang="en-US" sz="2400" dirty="0" err="1"/>
              <a:t>căldură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forma </a:t>
            </a:r>
            <a:r>
              <a:rPr lang="en-US" sz="2400" dirty="0" err="1"/>
              <a:t>urbană</a:t>
            </a:r>
            <a:r>
              <a:rPr lang="en-US" sz="2400" dirty="0"/>
              <a:t> </a:t>
            </a:r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19456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1556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Unde am ajuns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/>
              <a:t>Etapa curentă: A</a:t>
            </a:r>
            <a:r>
              <a:rPr lang="ro-RO" sz="1050" dirty="0"/>
              <a:t>liniere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/>
              <a:t>Făcut de la </a:t>
            </a:r>
            <a:r>
              <a:rPr lang="en-US" sz="1050" dirty="0" err="1"/>
              <a:t>ultimul</a:t>
            </a:r>
            <a:r>
              <a:rPr lang="en-US" sz="1050" dirty="0"/>
              <a:t> checkpoint: Data card per </a:t>
            </a:r>
            <a:r>
              <a:rPr lang="en-US" sz="1050" dirty="0" err="1"/>
              <a:t>sursă</a:t>
            </a:r>
            <a:r>
              <a:rPr lang="en-US" sz="1050" dirty="0"/>
              <a:t>, </a:t>
            </a:r>
            <a:r>
              <a:rPr lang="en-US" sz="1050" dirty="0" err="1"/>
              <a:t>tabelul</a:t>
            </a:r>
            <a:r>
              <a:rPr lang="en-US" sz="1050" dirty="0"/>
              <a:t> de </a:t>
            </a:r>
            <a:r>
              <a:rPr lang="en-US" sz="1050" dirty="0" err="1"/>
              <a:t>aliniere</a:t>
            </a:r>
            <a:r>
              <a:rPr lang="en-US" sz="1050" dirty="0"/>
              <a:t>, </a:t>
            </a:r>
            <a:r>
              <a:rPr lang="en-US" sz="1050" dirty="0" err="1"/>
              <a:t>raport</a:t>
            </a:r>
            <a:r>
              <a:rPr lang="en-US" sz="1050" dirty="0"/>
              <a:t> de </a:t>
            </a:r>
            <a:r>
              <a:rPr lang="en-US" sz="1050" dirty="0" err="1"/>
              <a:t>acoperire</a:t>
            </a:r>
            <a:r>
              <a:rPr lang="en-US" sz="1050" dirty="0"/>
              <a:t>, </a:t>
            </a:r>
            <a:r>
              <a:rPr lang="en-US" sz="1050" dirty="0" err="1"/>
              <a:t>tabel</a:t>
            </a:r>
            <a:r>
              <a:rPr lang="en-US" sz="1050" dirty="0"/>
              <a:t> SOA (10 </a:t>
            </a:r>
            <a:r>
              <a:rPr lang="en-US" sz="1050" dirty="0" err="1"/>
              <a:t>articole</a:t>
            </a:r>
            <a:r>
              <a:rPr lang="en-US" sz="1050" dirty="0"/>
              <a:t>)</a:t>
            </a:r>
          </a:p>
          <a:p>
            <a:pPr marL="0" indent="0">
              <a:buNone/>
            </a:pPr>
            <a:r>
              <a:rPr lang="en-US" sz="1050" dirty="0"/>
              <a:t>Ce am schimbat față de plan: </a:t>
            </a:r>
            <a:r>
              <a:rPr lang="en-US" sz="1050" dirty="0" err="1"/>
              <a:t>nimic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1 din 3 · Fișier Moodle: CP1_U13.pdf · Prezentare: 3 minute</a:t>
            </a:r>
            <a:endParaRPr lang="en-US" sz="9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33F02DB2-3F11-455E-95C6-99501611F934}"/>
              </a:ext>
            </a:extLst>
          </p:cNvPr>
          <p:cNvSpPr txBox="1"/>
          <p:nvPr/>
        </p:nvSpPr>
        <p:spPr>
          <a:xfrm>
            <a:off x="548640" y="1554480"/>
            <a:ext cx="3840480" cy="85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Întrebarea mea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/>
              <a:t>Q13.1 </a:t>
            </a:r>
            <a:r>
              <a:rPr lang="en-US" sz="1050" dirty="0" err="1"/>
              <a:t>Unde</a:t>
            </a:r>
            <a:r>
              <a:rPr lang="en-US" sz="1050" dirty="0"/>
              <a:t> </a:t>
            </a:r>
            <a:r>
              <a:rPr lang="en-US" sz="1050" dirty="0" err="1"/>
              <a:t>este</a:t>
            </a:r>
            <a:r>
              <a:rPr lang="en-US" sz="1050" dirty="0"/>
              <a:t> insula de </a:t>
            </a:r>
            <a:r>
              <a:rPr lang="en-US" sz="1050" dirty="0" err="1"/>
              <a:t>căldură</a:t>
            </a:r>
            <a:r>
              <a:rPr lang="en-US" sz="1050" dirty="0"/>
              <a:t> </a:t>
            </a:r>
            <a:r>
              <a:rPr lang="en-US" sz="1050" dirty="0" err="1"/>
              <a:t>și</a:t>
            </a:r>
            <a:r>
              <a:rPr lang="en-US" sz="1050" dirty="0"/>
              <a:t> </a:t>
            </a:r>
            <a:r>
              <a:rPr lang="en-US" sz="1050" dirty="0" err="1"/>
              <a:t>ce</a:t>
            </a:r>
            <a:r>
              <a:rPr lang="en-US" sz="1050" dirty="0"/>
              <a:t> o </a:t>
            </a:r>
            <a:r>
              <a:rPr lang="en-US" sz="1050" dirty="0" err="1"/>
              <a:t>explică</a:t>
            </a:r>
            <a:r>
              <a:rPr lang="en-US" sz="1050" dirty="0"/>
              <a:t>: </a:t>
            </a:r>
            <a:r>
              <a:rPr lang="en-US" sz="1050" dirty="0" err="1"/>
              <a:t>lipsa</a:t>
            </a:r>
            <a:r>
              <a:rPr lang="en-US" sz="1050" dirty="0"/>
              <a:t> </a:t>
            </a:r>
            <a:r>
              <a:rPr lang="en-US" sz="1050" dirty="0" err="1"/>
              <a:t>vegetației</a:t>
            </a:r>
            <a:r>
              <a:rPr lang="en-US" sz="1050" dirty="0"/>
              <a:t>, </a:t>
            </a:r>
            <a:r>
              <a:rPr lang="en-US" sz="1050" dirty="0" err="1"/>
              <a:t>densitatea</a:t>
            </a:r>
            <a:r>
              <a:rPr lang="en-US" sz="1050" dirty="0"/>
              <a:t> </a:t>
            </a:r>
            <a:r>
              <a:rPr lang="en-US" sz="1050" dirty="0" err="1"/>
              <a:t>sau</a:t>
            </a:r>
            <a:r>
              <a:rPr lang="en-US" sz="1050" dirty="0"/>
              <a:t> </a:t>
            </a:r>
            <a:r>
              <a:rPr lang="en-US" sz="1050" dirty="0" err="1"/>
              <a:t>înălțimea</a:t>
            </a:r>
            <a:r>
              <a:rPr lang="en-US" sz="1050" dirty="0"/>
              <a:t> </a:t>
            </a:r>
            <a:r>
              <a:rPr lang="en-US" sz="1050" dirty="0" err="1"/>
              <a:t>clădirilor</a:t>
            </a:r>
            <a:r>
              <a:rPr lang="en-US" sz="1050" dirty="0"/>
              <a:t>?</a:t>
            </a:r>
            <a:endParaRPr lang="ro-RO" sz="1050" dirty="0">
              <a:solidFill>
                <a:srgbClr val="6B7684"/>
              </a:solidFill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E975E001-BF18-44C3-B679-3FA6B9F76296}"/>
              </a:ext>
            </a:extLst>
          </p:cNvPr>
          <p:cNvSpPr txBox="1"/>
          <p:nvPr/>
        </p:nvSpPr>
        <p:spPr>
          <a:xfrm>
            <a:off x="548640" y="2310689"/>
            <a:ext cx="3840480" cy="85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Unitatea și sursele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0" i="0" dirty="0" err="1">
                <a:solidFill>
                  <a:srgbClr val="27272A"/>
                </a:solidFill>
                <a:effectLst/>
                <a:latin typeface="Inter"/>
              </a:rPr>
              <a:t>Celula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 </a:t>
            </a:r>
            <a:r>
              <a:rPr lang="en-US" sz="1050" b="0" i="0" dirty="0" err="1">
                <a:solidFill>
                  <a:srgbClr val="27272A"/>
                </a:solidFill>
                <a:effectLst/>
                <a:latin typeface="Inter"/>
              </a:rPr>
              <a:t>urbană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 500m. </a:t>
            </a:r>
            <a:endParaRPr lang="ro-RO" sz="1050" b="0" i="0" dirty="0">
              <a:solidFill>
                <a:srgbClr val="27272A"/>
              </a:solidFill>
              <a:effectLst/>
              <a:latin typeface="Inter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ro-RO" sz="1050" b="0" i="0" dirty="0">
                <a:solidFill>
                  <a:srgbClr val="27272A"/>
                </a:solidFill>
                <a:effectLst/>
                <a:latin typeface="Inter"/>
              </a:rPr>
              <a:t>Termic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: </a:t>
            </a:r>
            <a:r>
              <a:rPr lang="en-US" sz="1050" dirty="0"/>
              <a:t>Landsat 8/9 LST, Optic: S2 (GEE)</a:t>
            </a:r>
            <a:r>
              <a:rPr lang="ro-RO" sz="1050" dirty="0"/>
              <a:t>, </a:t>
            </a:r>
            <a:r>
              <a:rPr lang="en-US" sz="1050" dirty="0"/>
              <a:t> </a:t>
            </a:r>
            <a:r>
              <a:rPr lang="en-US" sz="1050" dirty="0" err="1"/>
              <a:t>Formă</a:t>
            </a:r>
            <a:r>
              <a:rPr lang="en-US" sz="1050" dirty="0"/>
              <a:t> </a:t>
            </a:r>
            <a:r>
              <a:rPr lang="en-US" sz="1050" dirty="0" err="1"/>
              <a:t>urbană</a:t>
            </a:r>
            <a:r>
              <a:rPr lang="en-US" sz="1050" dirty="0"/>
              <a:t>: </a:t>
            </a:r>
            <a:r>
              <a:rPr lang="ro-RO" sz="1050" dirty="0"/>
              <a:t>OSM (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cl</a:t>
            </a:r>
            <a:r>
              <a:rPr lang="ro-RO" sz="1050" b="0" i="0" dirty="0" err="1">
                <a:solidFill>
                  <a:srgbClr val="27272A"/>
                </a:solidFill>
                <a:effectLst/>
                <a:latin typeface="Inter"/>
              </a:rPr>
              <a:t>ădiri</a:t>
            </a:r>
            <a:r>
              <a:rPr lang="ro-RO" sz="1050" b="0" i="0" dirty="0">
                <a:solidFill>
                  <a:srgbClr val="27272A"/>
                </a:solidFill>
                <a:effectLst/>
                <a:latin typeface="Inter"/>
              </a:rPr>
              <a:t>, drumuri, parcuri)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 </a:t>
            </a:r>
            <a:r>
              <a:rPr lang="ro-RO" sz="1050" b="0" i="0" dirty="0">
                <a:solidFill>
                  <a:srgbClr val="27272A"/>
                </a:solidFill>
                <a:effectLst/>
                <a:latin typeface="Inter"/>
              </a:rPr>
              <a:t>și </a:t>
            </a:r>
            <a:r>
              <a:rPr lang="en-US" sz="1050" dirty="0"/>
              <a:t>GHSL</a:t>
            </a:r>
            <a:r>
              <a:rPr lang="ro-RO" sz="1050" dirty="0"/>
              <a:t> (</a:t>
            </a:r>
            <a:r>
              <a:rPr lang="en-US" sz="1050" dirty="0" err="1"/>
              <a:t>înălțimea</a:t>
            </a:r>
            <a:r>
              <a:rPr lang="en-US" sz="1050" dirty="0"/>
              <a:t> </a:t>
            </a:r>
            <a:r>
              <a:rPr lang="en-US" sz="1050" dirty="0" err="1"/>
              <a:t>clădirilor</a:t>
            </a:r>
            <a:r>
              <a:rPr lang="ro-RO" sz="1050" dirty="0"/>
              <a:t>)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. </a:t>
            </a:r>
            <a:endParaRPr lang="ro-RO" sz="1050" b="0" i="0" dirty="0">
              <a:solidFill>
                <a:srgbClr val="27272A"/>
              </a:solidFill>
              <a:effectLst/>
              <a:latin typeface="Inter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Pas: media </a:t>
            </a:r>
            <a:r>
              <a:rPr lang="en-US" sz="1050" b="0" i="0" dirty="0" err="1">
                <a:solidFill>
                  <a:srgbClr val="27272A"/>
                </a:solidFill>
                <a:effectLst/>
                <a:latin typeface="Inter"/>
              </a:rPr>
              <a:t>verii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.</a:t>
            </a:r>
            <a:endParaRPr lang="ro-RO" sz="1050" dirty="0">
              <a:solidFill>
                <a:srgbClr val="6B7684"/>
              </a:solidFill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1EC80BD6-C14B-4F54-ACEF-21122D8B75FC}"/>
              </a:ext>
            </a:extLst>
          </p:cNvPr>
          <p:cNvSpPr txBox="1"/>
          <p:nvPr/>
        </p:nvSpPr>
        <p:spPr>
          <a:xfrm>
            <a:off x="548640" y="33924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Cui îi folosește răspunsul</a:t>
            </a:r>
            <a:endParaRPr lang="en-US" sz="11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</a:t>
            </a:r>
            <a:r>
              <a:rPr lang="ro-RO" altLang="en-US" sz="1050" dirty="0" err="1"/>
              <a:t>ăspunsul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ajută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autoritățile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urbaniștii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să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identifice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zonele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afectate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insula de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căldură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factorii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care o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favorizează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prioritiza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măsuri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precum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extinderea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spațiilor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verzi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adaptarea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dezvoltării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urbane la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temperaturile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ridicate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DOVADA ETAPEI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457131" y="592129"/>
            <a:ext cx="4380263" cy="4297195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 dirty="0"/>
          </a:p>
        </p:txBody>
      </p:sp>
      <p:sp>
        <p:nvSpPr>
          <p:cNvPr id="7" name="Text 5"/>
          <p:cNvSpPr txBox="1"/>
          <p:nvPr/>
        </p:nvSpPr>
        <p:spPr>
          <a:xfrm>
            <a:off x="4469667" y="3193175"/>
            <a:ext cx="4125694" cy="1695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750" b="1" dirty="0"/>
              <a:t>Cum se </a:t>
            </a:r>
            <a:r>
              <a:rPr lang="en-US" sz="750" b="1" dirty="0" err="1"/>
              <a:t>verifică</a:t>
            </a:r>
            <a:endParaRPr lang="ro-RO" sz="75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sz="750" b="1" dirty="0"/>
              <a:t>Repo: Con</a:t>
            </a:r>
            <a:r>
              <a:rPr lang="ro-RO" sz="750" b="1" dirty="0"/>
              <a:t>ține notebook și datacard_U13.md</a:t>
            </a:r>
            <a:br>
              <a:rPr lang="en-US" sz="750" b="1" dirty="0"/>
            </a:br>
            <a:r>
              <a:rPr lang="en-US" sz="75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https://github.com/andreeadv/MEDE/tree/main/CP1_U13</a:t>
            </a:r>
            <a:endParaRPr lang="en-US" sz="750" dirty="0"/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Surse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[set,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versiune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perioadă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 × [n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surse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]: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4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surse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(1) Landsat 9 L2/C2 [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Iun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-Aug 2026]; (2) Sentinel-2 L2A [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Iun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-Aug 2026]; (3) GHSL GHS_BUILT_H [2018]; (4) OpenStreetMap [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Toamna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2026].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Unitate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× pas de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timp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[n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observații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× d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trăsături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]: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Celulă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grid 500m ×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medie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sezonieră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estivală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[845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observații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celule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valide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× 6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trăsături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analitice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+ 1 target (LST)].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Split: [temporal /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spațial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LOYO]: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N/A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Seed-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uri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rulări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[n]: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N/A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Baseline „o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singură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sursă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”: [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valoare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]: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N/A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înseamnă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rezultatul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[o </a:t>
            </a:r>
            <a:r>
              <a:rPr kumimoji="0" lang="en-US" altLang="en-US" sz="7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propoziție</a:t>
            </a:r>
            <a:r>
              <a:rPr kumimoji="0" lang="en-US" altLang="en-US" sz="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]: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750" dirty="0"/>
              <a:t>: </a:t>
            </a:r>
            <a:r>
              <a:rPr lang="en-US" sz="750" dirty="0" err="1"/>
              <a:t>Rezultatul</a:t>
            </a:r>
            <a:r>
              <a:rPr lang="en-US" sz="750" dirty="0"/>
              <a:t> </a:t>
            </a:r>
            <a:r>
              <a:rPr lang="en-US" sz="750" dirty="0" err="1"/>
              <a:t>integrează</a:t>
            </a:r>
            <a:r>
              <a:rPr lang="en-US" sz="750" dirty="0"/>
              <a:t> </a:t>
            </a:r>
            <a:r>
              <a:rPr lang="en-US" sz="750" dirty="0" err="1"/>
              <a:t>metadatele</a:t>
            </a:r>
            <a:r>
              <a:rPr lang="en-US" sz="750" dirty="0"/>
              <a:t> </a:t>
            </a:r>
            <a:r>
              <a:rPr lang="en-US" sz="750" dirty="0" err="1"/>
              <a:t>surselor</a:t>
            </a:r>
            <a:r>
              <a:rPr lang="en-US" sz="750" dirty="0"/>
              <a:t> (Data Cards) cu </a:t>
            </a:r>
            <a:r>
              <a:rPr lang="en-US" sz="750" dirty="0" err="1"/>
              <a:t>tabelul</a:t>
            </a:r>
            <a:r>
              <a:rPr lang="en-US" sz="750" dirty="0"/>
              <a:t> </a:t>
            </a:r>
            <a:r>
              <a:rPr lang="en-US" sz="750" dirty="0" err="1"/>
              <a:t>aliniată</a:t>
            </a:r>
            <a:r>
              <a:rPr lang="en-US" sz="750" dirty="0"/>
              <a:t> pe </a:t>
            </a:r>
            <a:r>
              <a:rPr lang="en-US" sz="750" dirty="0" err="1"/>
              <a:t>unitate</a:t>
            </a:r>
            <a:r>
              <a:rPr lang="en-US" sz="750" dirty="0"/>
              <a:t> </a:t>
            </a:r>
            <a:r>
              <a:rPr lang="en-US" sz="750" dirty="0" err="1"/>
              <a:t>și</a:t>
            </a:r>
            <a:r>
              <a:rPr lang="en-US" sz="750" dirty="0"/>
              <a:t> </a:t>
            </a:r>
            <a:r>
              <a:rPr lang="en-US" sz="750" dirty="0" err="1"/>
              <a:t>timp</a:t>
            </a:r>
            <a:r>
              <a:rPr lang="en-US" sz="750" dirty="0"/>
              <a:t>, </a:t>
            </a:r>
            <a:r>
              <a:rPr lang="en-US" sz="750" dirty="0" err="1"/>
              <a:t>obținând</a:t>
            </a:r>
            <a:r>
              <a:rPr lang="en-US" sz="750" dirty="0"/>
              <a:t> un </a:t>
            </a:r>
            <a:r>
              <a:rPr lang="en-US" sz="750" dirty="0" err="1"/>
              <a:t>raport</a:t>
            </a:r>
            <a:r>
              <a:rPr lang="en-US" sz="750" dirty="0"/>
              <a:t> de </a:t>
            </a:r>
            <a:r>
              <a:rPr lang="en-US" sz="750" dirty="0" err="1"/>
              <a:t>acoperire</a:t>
            </a:r>
            <a:r>
              <a:rPr lang="en-US" sz="750" dirty="0"/>
              <a:t> de 845 </a:t>
            </a:r>
            <a:r>
              <a:rPr lang="en-US" sz="750" dirty="0" err="1"/>
              <a:t>celule</a:t>
            </a:r>
            <a:r>
              <a:rPr lang="en-US" sz="750" dirty="0"/>
              <a:t> </a:t>
            </a:r>
            <a:r>
              <a:rPr lang="en-US" sz="750" dirty="0" err="1"/>
              <a:t>valide</a:t>
            </a:r>
            <a:r>
              <a:rPr lang="en-US" sz="750" dirty="0"/>
              <a:t> (98.7%) </a:t>
            </a:r>
            <a:r>
              <a:rPr lang="en-US" sz="750" dirty="0" err="1"/>
              <a:t>pregătite</a:t>
            </a:r>
            <a:r>
              <a:rPr lang="en-US" sz="750" dirty="0"/>
              <a:t> </a:t>
            </a:r>
            <a:r>
              <a:rPr lang="en-US" sz="750" dirty="0" err="1"/>
              <a:t>pentru</a:t>
            </a:r>
            <a:r>
              <a:rPr lang="en-US" sz="750" dirty="0"/>
              <a:t> </a:t>
            </a:r>
            <a:r>
              <a:rPr lang="en-US" sz="750" dirty="0" err="1"/>
              <a:t>modelare</a:t>
            </a:r>
            <a:r>
              <a:rPr lang="en-US" sz="750" dirty="0"/>
              <a:t>.</a:t>
            </a:r>
            <a:endParaRPr kumimoji="0" lang="en-US" altLang="en-US" sz="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480193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2 din 3 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ADB497-0D4F-4944-BD64-35EBD9EE28CC}"/>
              </a:ext>
            </a:extLst>
          </p:cNvPr>
          <p:cNvSpPr txBox="1"/>
          <p:nvPr/>
        </p:nvSpPr>
        <p:spPr>
          <a:xfrm>
            <a:off x="4361265" y="510283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 err="1"/>
              <a:t>Tabelul</a:t>
            </a:r>
            <a:r>
              <a:rPr lang="en-US" sz="1050" b="1" dirty="0"/>
              <a:t> </a:t>
            </a:r>
            <a:r>
              <a:rPr lang="en-US" sz="1050" b="1" dirty="0" err="1"/>
              <a:t>aliniat</a:t>
            </a:r>
            <a:r>
              <a:rPr lang="en-US" sz="1050" b="1" dirty="0"/>
              <a:t> </a:t>
            </a:r>
            <a:r>
              <a:rPr lang="en-US" sz="1050" dirty="0"/>
              <a:t>(</a:t>
            </a:r>
            <a:r>
              <a:rPr lang="en-US" sz="1050" dirty="0" err="1"/>
              <a:t>Eșantion</a:t>
            </a:r>
            <a:r>
              <a:rPr lang="en-US" sz="1050" dirty="0"/>
              <a:t> 10 </a:t>
            </a:r>
            <a:r>
              <a:rPr lang="en-US" sz="1050" dirty="0" err="1"/>
              <a:t>linii</a:t>
            </a:r>
            <a:r>
              <a:rPr lang="en-US" sz="1050" dirty="0"/>
              <a:t>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DBB062-BDCB-4FD6-B629-73BABF221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133" y="714139"/>
            <a:ext cx="4380263" cy="9701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002523-9DF8-4D73-B823-86C94369BA10}"/>
              </a:ext>
            </a:extLst>
          </p:cNvPr>
          <p:cNvSpPr txBox="1"/>
          <p:nvPr/>
        </p:nvSpPr>
        <p:spPr>
          <a:xfrm>
            <a:off x="4365753" y="1641963"/>
            <a:ext cx="458651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Rata de supraviețuire:</a:t>
            </a:r>
            <a:r>
              <a:rPr lang="ro-RO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845 din 856 celule de 500m au supraviețuit alinierii (98.7%).</a:t>
            </a: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Datacard</a:t>
            </a:r>
            <a:r>
              <a:rPr lang="en-US" sz="1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3D18AE0-6BB2-436E-A859-D08E48580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133" y="1972912"/>
            <a:ext cx="4380263" cy="1197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8886F1-1450-4A93-843B-EA9CA409737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619"/>
          <a:stretch/>
        </p:blipFill>
        <p:spPr>
          <a:xfrm>
            <a:off x="433771" y="579735"/>
            <a:ext cx="3781325" cy="4308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BLOCAJE ȘI URMĂTOARELE DOUĂ SĂPTĂMÂNI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Blocaje și următorii pași la CP</a:t>
            </a: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Blocaje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ro-RO" sz="1050" dirty="0">
                <a:solidFill>
                  <a:srgbClr val="6B7684"/>
                </a:solidFill>
              </a:rPr>
              <a:t>Nu există blocaje.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931920" cy="2468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8702A"/>
                </a:solidFill>
              </a:rPr>
              <a:t>Planul pe 2 săptămâni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 err="1">
                <a:solidFill>
                  <a:srgbClr val="C9D1DC"/>
                </a:solidFill>
              </a:rPr>
              <a:t>Săptămâna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ro-RO" sz="1050" dirty="0">
                <a:solidFill>
                  <a:srgbClr val="C9D1DC"/>
                </a:solidFill>
              </a:rPr>
              <a:t>6</a:t>
            </a:r>
            <a:r>
              <a:rPr lang="en-US" sz="1050" dirty="0">
                <a:solidFill>
                  <a:srgbClr val="C9D1DC"/>
                </a:solidFill>
              </a:rPr>
              <a:t>: </a:t>
            </a:r>
            <a:r>
              <a:rPr lang="ro-RO" sz="1050" dirty="0">
                <a:solidFill>
                  <a:srgbClr val="C9D1DC"/>
                </a:solidFill>
              </a:rPr>
              <a:t>Trăsături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9D1DC"/>
                </a:solidFill>
              </a:rPr>
              <a:t>La CP</a:t>
            </a:r>
            <a:r>
              <a:rPr lang="ro-RO" sz="1050" dirty="0">
                <a:solidFill>
                  <a:srgbClr val="C9D1DC"/>
                </a:solidFill>
              </a:rPr>
              <a:t>2 </a:t>
            </a:r>
            <a:r>
              <a:rPr lang="en-US" sz="1050" dirty="0" err="1">
                <a:solidFill>
                  <a:srgbClr val="C9D1DC"/>
                </a:solidFill>
              </a:rPr>
              <a:t>arăt</a:t>
            </a:r>
            <a:r>
              <a:rPr lang="en-US" sz="1050" dirty="0">
                <a:solidFill>
                  <a:srgbClr val="C9D1DC"/>
                </a:solidFill>
              </a:rPr>
              <a:t>: </a:t>
            </a:r>
            <a:r>
              <a:rPr lang="en-US" sz="1050" dirty="0" err="1">
                <a:solidFill>
                  <a:srgbClr val="C9D1DC"/>
                </a:solidFill>
              </a:rPr>
              <a:t>Matricea</a:t>
            </a:r>
            <a:r>
              <a:rPr lang="en-US" sz="1050" dirty="0">
                <a:solidFill>
                  <a:srgbClr val="C9D1DC"/>
                </a:solidFill>
              </a:rPr>
              <a:t> X </a:t>
            </a:r>
            <a:r>
              <a:rPr lang="en-US" sz="1050" dirty="0" err="1">
                <a:solidFill>
                  <a:srgbClr val="C9D1DC"/>
                </a:solidFill>
              </a:rPr>
              <a:t>documentată</a:t>
            </a:r>
            <a:r>
              <a:rPr lang="en-US" sz="1050" dirty="0">
                <a:solidFill>
                  <a:srgbClr val="C9D1DC"/>
                </a:solidFill>
              </a:rPr>
              <a:t> (n × d, cu </a:t>
            </a:r>
            <a:r>
              <a:rPr lang="en-US" sz="1050" dirty="0" err="1">
                <a:solidFill>
                  <a:srgbClr val="C9D1DC"/>
                </a:solidFill>
              </a:rPr>
              <a:t>proveniența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fiecărei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trăsături</a:t>
            </a:r>
            <a:r>
              <a:rPr lang="en-US" sz="1050" dirty="0">
                <a:solidFill>
                  <a:srgbClr val="C9D1DC"/>
                </a:solidFill>
              </a:rPr>
              <a:t>) + </a:t>
            </a:r>
            <a:r>
              <a:rPr lang="en-US" sz="1050" dirty="0" err="1">
                <a:solidFill>
                  <a:srgbClr val="C9D1DC"/>
                </a:solidFill>
              </a:rPr>
              <a:t>analiza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univariată</a:t>
            </a:r>
            <a:r>
              <a:rPr lang="en-US" sz="1050" dirty="0">
                <a:solidFill>
                  <a:srgbClr val="C9D1DC"/>
                </a:solidFill>
              </a:rPr>
              <a:t>/</a:t>
            </a:r>
            <a:r>
              <a:rPr lang="en-US" sz="1050" dirty="0" err="1">
                <a:solidFill>
                  <a:srgbClr val="C9D1DC"/>
                </a:solidFill>
              </a:rPr>
              <a:t>biv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ariată</a:t>
            </a:r>
            <a:r>
              <a:rPr lang="en-US" sz="1050" dirty="0">
                <a:solidFill>
                  <a:srgbClr val="C9D1DC"/>
                </a:solidFill>
              </a:rPr>
              <a:t> + prima </a:t>
            </a:r>
            <a:r>
              <a:rPr lang="en-US" sz="1050" dirty="0" err="1">
                <a:solidFill>
                  <a:srgbClr val="C9D1DC"/>
                </a:solidFill>
              </a:rPr>
              <a:t>proiecție</a:t>
            </a:r>
            <a:r>
              <a:rPr lang="en-US" sz="1050" dirty="0">
                <a:solidFill>
                  <a:srgbClr val="C9D1DC"/>
                </a:solidFill>
              </a:rPr>
              <a:t> PCA (scree, loadings)</a:t>
            </a:r>
            <a:endParaRPr lang="ro-RO" sz="1050" dirty="0">
              <a:solidFill>
                <a:srgbClr val="C9D1DC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 err="1">
                <a:solidFill>
                  <a:srgbClr val="C9D1DC"/>
                </a:solidFill>
              </a:rPr>
              <a:t>Comparația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obligatorie</a:t>
            </a:r>
            <a:r>
              <a:rPr lang="en-US" sz="1050" dirty="0">
                <a:solidFill>
                  <a:srgbClr val="C9D1DC"/>
                </a:solidFill>
              </a:rPr>
              <a:t> pe care o </a:t>
            </a:r>
            <a:r>
              <a:rPr lang="en-US" sz="1050" dirty="0" err="1">
                <a:solidFill>
                  <a:srgbClr val="C9D1DC"/>
                </a:solidFill>
              </a:rPr>
              <a:t>pregătesc</a:t>
            </a:r>
            <a:r>
              <a:rPr lang="en-US" sz="1050" dirty="0">
                <a:solidFill>
                  <a:srgbClr val="C9D1DC"/>
                </a:solidFill>
              </a:rPr>
              <a:t>: o </a:t>
            </a:r>
            <a:r>
              <a:rPr lang="en-US" sz="1050" dirty="0" err="1">
                <a:solidFill>
                  <a:srgbClr val="C9D1DC"/>
                </a:solidFill>
              </a:rPr>
              <a:t>sursă</a:t>
            </a:r>
            <a:r>
              <a:rPr lang="en-US" sz="1050" dirty="0">
                <a:solidFill>
                  <a:srgbClr val="C9D1DC"/>
                </a:solidFill>
              </a:rPr>
              <a:t> vs. </a:t>
            </a:r>
            <a:r>
              <a:rPr lang="en-US" sz="1050" dirty="0" err="1">
                <a:solidFill>
                  <a:srgbClr val="C9D1DC"/>
                </a:solidFill>
              </a:rPr>
              <a:t>toate</a:t>
            </a:r>
            <a:endParaRPr lang="en-US" sz="110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C9D1DC"/>
                </a:solidFill>
              </a:rPr>
              <a:t>Secțiunea</a:t>
            </a:r>
            <a:r>
              <a:rPr lang="en-US" sz="1050" dirty="0">
                <a:solidFill>
                  <a:srgbClr val="C9D1DC"/>
                </a:solidFill>
              </a:rPr>
              <a:t> de articol pe care o scriu: Methods</a:t>
            </a:r>
            <a:r>
              <a:rPr lang="ro-RO" sz="1050" dirty="0">
                <a:solidFill>
                  <a:srgbClr val="C9D1DC"/>
                </a:solidFill>
              </a:rPr>
              <a:t> - </a:t>
            </a:r>
            <a:r>
              <a:rPr lang="en-US" sz="1050" dirty="0" err="1">
                <a:solidFill>
                  <a:srgbClr val="C9D1DC"/>
                </a:solidFill>
              </a:rPr>
              <a:t>trăsături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3 din 3 · Întrebarea pentru profesor / grup, dacă există: [</a:t>
            </a:r>
            <a:r>
              <a:rPr lang="ro-RO" sz="900" dirty="0">
                <a:solidFill>
                  <a:srgbClr val="6B7684"/>
                </a:solidFill>
              </a:rPr>
              <a:t>x</a:t>
            </a:r>
            <a:r>
              <a:rPr lang="en-US" sz="900" dirty="0">
                <a:solidFill>
                  <a:srgbClr val="6B7684"/>
                </a:solidFill>
              </a:rPr>
              <a:t>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1473</TotalTime>
  <Words>520</Words>
  <Application>Microsoft Office PowerPoint</Application>
  <PresentationFormat>On-screen Show (16:9)</PresentationFormat>
  <Paragraphs>41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Calibri</vt:lpstr>
      <vt:lpstr>Cambria</vt:lpstr>
      <vt:lpstr>Inter</vt:lpstr>
      <vt:lpstr>Times New Roman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Andreea Violeta Dinu</cp:lastModifiedBy>
  <cp:revision>16</cp:revision>
  <dcterms:created xsi:type="dcterms:W3CDTF">2026-10-07T14:41:20Z</dcterms:created>
  <dcterms:modified xsi:type="dcterms:W3CDTF">2026-10-20T15:47:37Z</dcterms:modified>
</cp:coreProperties>
</file>